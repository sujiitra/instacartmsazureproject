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Play"/>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lay-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b9a7722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b9a7722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b9a77228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b9a77228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b9a77228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4b9a77228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b9a77228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b9a77228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4b9a772282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4b9a772282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b9a772282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4b9a77228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b9a772282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b9a77228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b9a772282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4b9a772282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4b9a772282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4b9a772282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4b9a772282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4b9a772282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4b9a772282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4b9a772282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b9a77228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4b9a77228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4b9a772282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4b9a772282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4b9a77228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4b9a77228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hyperlink" Target="https://github.com/Sujiitra/InstaCartMSAzureProjec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hyperlink" Target="https://www.kaggle.com/datasets/yasserh/instacart-online-grocery-basket-analysis-dataset/" TargetMode="External"/><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hyperlink" Target="https://github.com/Sujiitra/InstaCartMSAzureProject" TargetMode="External"/><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85" name="Google Shape;85;p13"/>
          <p:cNvSpPr/>
          <p:nvPr/>
        </p:nvSpPr>
        <p:spPr>
          <a:xfrm>
            <a:off x="1207000" y="1055067"/>
            <a:ext cx="9777900" cy="4907100"/>
          </a:xfrm>
          <a:prstGeom prst="rect">
            <a:avLst/>
          </a:prstGeom>
          <a:solidFill>
            <a:srgbClr val="000000">
              <a:alpha val="80380"/>
            </a:srgbClr>
          </a:solidFill>
          <a:ln cap="flat" cmpd="sng" w="114300">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86" name="Google Shape;86;p13"/>
          <p:cNvSpPr txBox="1"/>
          <p:nvPr/>
        </p:nvSpPr>
        <p:spPr>
          <a:xfrm>
            <a:off x="1238650" y="1226975"/>
            <a:ext cx="9714600" cy="1701600"/>
          </a:xfrm>
          <a:prstGeom prst="rect">
            <a:avLst/>
          </a:prstGeom>
          <a:noFill/>
          <a:ln cap="flat" cmpd="sng" w="9525">
            <a:solidFill>
              <a:schemeClr val="dk1"/>
            </a:solidFill>
            <a:prstDash val="solid"/>
            <a:round/>
            <a:headEnd len="sm" w="sm" type="none"/>
            <a:tailEnd len="sm" w="sm" type="none"/>
          </a:ln>
        </p:spPr>
        <p:txBody>
          <a:bodyPr anchorCtr="0" anchor="t" bIns="121900" lIns="121900" spcFirstLastPara="1" rIns="121900" wrap="square" tIns="121900">
            <a:noAutofit/>
          </a:bodyPr>
          <a:lstStyle/>
          <a:p>
            <a:pPr indent="0" lvl="0" marL="0" rtl="0" algn="ctr">
              <a:spcBef>
                <a:spcPts val="0"/>
              </a:spcBef>
              <a:spcAft>
                <a:spcPts val="0"/>
              </a:spcAft>
              <a:buNone/>
            </a:pPr>
            <a:r>
              <a:rPr b="1" lang="en-CA" sz="3500">
                <a:solidFill>
                  <a:schemeClr val="lt1"/>
                </a:solidFill>
                <a:latin typeface="Verdana"/>
                <a:ea typeface="Verdana"/>
                <a:cs typeface="Verdana"/>
                <a:sym typeface="Verdana"/>
              </a:rPr>
              <a:t>Data Architecture Design </a:t>
            </a:r>
            <a:endParaRPr b="1" sz="3500">
              <a:solidFill>
                <a:schemeClr val="lt1"/>
              </a:solidFill>
              <a:latin typeface="Verdana"/>
              <a:ea typeface="Verdana"/>
              <a:cs typeface="Verdana"/>
              <a:sym typeface="Verdana"/>
            </a:endParaRPr>
          </a:p>
          <a:p>
            <a:pPr indent="0" lvl="0" marL="0" rtl="0" algn="ctr">
              <a:spcBef>
                <a:spcPts val="0"/>
              </a:spcBef>
              <a:spcAft>
                <a:spcPts val="0"/>
              </a:spcAft>
              <a:buNone/>
            </a:pPr>
            <a:r>
              <a:rPr b="1" lang="en-CA" sz="3500">
                <a:solidFill>
                  <a:schemeClr val="lt1"/>
                </a:solidFill>
                <a:latin typeface="Verdana"/>
                <a:ea typeface="Verdana"/>
                <a:cs typeface="Verdana"/>
                <a:sym typeface="Verdana"/>
              </a:rPr>
              <a:t>for Instacart Dataset</a:t>
            </a:r>
            <a:endParaRPr b="1" sz="3500">
              <a:solidFill>
                <a:schemeClr val="lt1"/>
              </a:solidFill>
              <a:latin typeface="Verdana"/>
              <a:ea typeface="Verdana"/>
              <a:cs typeface="Verdana"/>
              <a:sym typeface="Verdana"/>
            </a:endParaRPr>
          </a:p>
        </p:txBody>
      </p:sp>
      <p:sp>
        <p:nvSpPr>
          <p:cNvPr id="87" name="Google Shape;87;p13"/>
          <p:cNvSpPr txBox="1"/>
          <p:nvPr/>
        </p:nvSpPr>
        <p:spPr>
          <a:xfrm>
            <a:off x="2098600" y="2483070"/>
            <a:ext cx="7994700" cy="891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CA" sz="2100">
                <a:solidFill>
                  <a:schemeClr val="lt1"/>
                </a:solidFill>
                <a:latin typeface="Verdana"/>
                <a:ea typeface="Verdana"/>
                <a:cs typeface="Verdana"/>
                <a:sym typeface="Verdana"/>
              </a:rPr>
              <a:t>DAMG7370 Final Project - Group 1</a:t>
            </a:r>
            <a:endParaRPr sz="2100">
              <a:solidFill>
                <a:schemeClr val="lt1"/>
              </a:solidFill>
              <a:latin typeface="Verdana"/>
              <a:ea typeface="Verdana"/>
              <a:cs typeface="Verdana"/>
              <a:sym typeface="Verdana"/>
            </a:endParaRPr>
          </a:p>
          <a:p>
            <a:pPr indent="0" lvl="0" marL="0" rtl="0" algn="ctr">
              <a:spcBef>
                <a:spcPts val="0"/>
              </a:spcBef>
              <a:spcAft>
                <a:spcPts val="0"/>
              </a:spcAft>
              <a:buNone/>
            </a:pPr>
            <a:r>
              <a:rPr lang="en-CA" sz="2100" u="sng">
                <a:solidFill>
                  <a:srgbClr val="FFF2CC"/>
                </a:solidFill>
                <a:latin typeface="Verdana"/>
                <a:ea typeface="Verdana"/>
                <a:cs typeface="Verdana"/>
                <a:sym typeface="Verdana"/>
                <a:hlinkClick r:id="rId4">
                  <a:extLst>
                    <a:ext uri="{A12FA001-AC4F-418D-AE19-62706E023703}">
                      <ahyp:hlinkClr val="tx"/>
                    </a:ext>
                  </a:extLst>
                </a:hlinkClick>
              </a:rPr>
              <a:t>GitHub Link</a:t>
            </a:r>
            <a:endParaRPr sz="2100">
              <a:solidFill>
                <a:srgbClr val="FFF2CC"/>
              </a:solidFill>
              <a:latin typeface="Verdana"/>
              <a:ea typeface="Verdana"/>
              <a:cs typeface="Verdana"/>
              <a:sym typeface="Verdana"/>
            </a:endParaRPr>
          </a:p>
          <a:p>
            <a:pPr indent="0" lvl="0" marL="0" rtl="0" algn="ctr">
              <a:spcBef>
                <a:spcPts val="0"/>
              </a:spcBef>
              <a:spcAft>
                <a:spcPts val="0"/>
              </a:spcAft>
              <a:buNone/>
            </a:pPr>
            <a:r>
              <a:t/>
            </a:r>
            <a:endParaRPr sz="2100">
              <a:solidFill>
                <a:schemeClr val="lt1"/>
              </a:solidFill>
              <a:latin typeface="Verdana"/>
              <a:ea typeface="Verdana"/>
              <a:cs typeface="Verdana"/>
              <a:sym typeface="Verdana"/>
            </a:endParaRPr>
          </a:p>
        </p:txBody>
      </p:sp>
      <p:sp>
        <p:nvSpPr>
          <p:cNvPr id="88" name="Google Shape;88;p13"/>
          <p:cNvSpPr txBox="1"/>
          <p:nvPr/>
        </p:nvSpPr>
        <p:spPr>
          <a:xfrm>
            <a:off x="4253250" y="3455975"/>
            <a:ext cx="3685500" cy="177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CA" sz="1600">
                <a:solidFill>
                  <a:schemeClr val="lt1"/>
                </a:solidFill>
              </a:rPr>
              <a:t>Team Members:</a:t>
            </a:r>
            <a:endParaRPr b="1" sz="1600">
              <a:solidFill>
                <a:schemeClr val="lt1"/>
              </a:solidFill>
            </a:endParaRPr>
          </a:p>
          <a:p>
            <a:pPr indent="0" lvl="0" marL="0" rtl="0" algn="ctr">
              <a:spcBef>
                <a:spcPts val="0"/>
              </a:spcBef>
              <a:spcAft>
                <a:spcPts val="0"/>
              </a:spcAft>
              <a:buNone/>
            </a:pPr>
            <a:r>
              <a:t/>
            </a:r>
            <a:endParaRPr sz="1600">
              <a:solidFill>
                <a:schemeClr val="lt1"/>
              </a:solidFill>
            </a:endParaRPr>
          </a:p>
          <a:p>
            <a:pPr indent="0" lvl="0" marL="0" rtl="0" algn="ctr">
              <a:lnSpc>
                <a:spcPct val="90000"/>
              </a:lnSpc>
              <a:spcBef>
                <a:spcPts val="0"/>
              </a:spcBef>
              <a:spcAft>
                <a:spcPts val="0"/>
              </a:spcAft>
              <a:buClr>
                <a:schemeClr val="dk1"/>
              </a:buClr>
              <a:buSzPts val="2800"/>
              <a:buFont typeface="Arial"/>
              <a:buNone/>
            </a:pPr>
            <a:r>
              <a:rPr lang="en-CA" sz="1600">
                <a:solidFill>
                  <a:schemeClr val="lt1"/>
                </a:solidFill>
              </a:rPr>
              <a:t>Sujiitra Murukeshan 002643735</a:t>
            </a:r>
            <a:endParaRPr sz="1600">
              <a:solidFill>
                <a:schemeClr val="lt1"/>
              </a:solidFill>
            </a:endParaRPr>
          </a:p>
          <a:p>
            <a:pPr indent="0" lvl="0" marL="0" rtl="0" algn="ctr">
              <a:lnSpc>
                <a:spcPct val="90000"/>
              </a:lnSpc>
              <a:spcBef>
                <a:spcPts val="1000"/>
              </a:spcBef>
              <a:spcAft>
                <a:spcPts val="0"/>
              </a:spcAft>
              <a:buClr>
                <a:schemeClr val="dk1"/>
              </a:buClr>
              <a:buSzPts val="2800"/>
              <a:buFont typeface="Arial"/>
              <a:buNone/>
            </a:pPr>
            <a:r>
              <a:rPr lang="en-CA" sz="1600">
                <a:solidFill>
                  <a:schemeClr val="lt1"/>
                </a:solidFill>
              </a:rPr>
              <a:t>Aishwarya Sreenivasan 002832662</a:t>
            </a:r>
            <a:endParaRPr sz="1600">
              <a:solidFill>
                <a:schemeClr val="lt1"/>
              </a:solidFill>
            </a:endParaRPr>
          </a:p>
          <a:p>
            <a:pPr indent="0" lvl="0" marL="0" rtl="0" algn="ctr">
              <a:lnSpc>
                <a:spcPct val="90000"/>
              </a:lnSpc>
              <a:spcBef>
                <a:spcPts val="1000"/>
              </a:spcBef>
              <a:spcAft>
                <a:spcPts val="0"/>
              </a:spcAft>
              <a:buClr>
                <a:schemeClr val="dk1"/>
              </a:buClr>
              <a:buSzPts val="2800"/>
              <a:buFont typeface="Arial"/>
              <a:buNone/>
            </a:pPr>
            <a:r>
              <a:rPr lang="en-CA" sz="1600">
                <a:solidFill>
                  <a:schemeClr val="lt1"/>
                </a:solidFill>
              </a:rPr>
              <a:t>Thamashi Kumarasinghe 002651640</a:t>
            </a:r>
            <a:endParaRPr sz="1600">
              <a:solidFill>
                <a:schemeClr val="lt1"/>
              </a:solidFill>
            </a:endParaRPr>
          </a:p>
          <a:p>
            <a:pPr indent="0" lvl="0" marL="0" rtl="0" algn="ctr">
              <a:lnSpc>
                <a:spcPct val="90000"/>
              </a:lnSpc>
              <a:spcBef>
                <a:spcPts val="1000"/>
              </a:spcBef>
              <a:spcAft>
                <a:spcPts val="0"/>
              </a:spcAft>
              <a:buClr>
                <a:schemeClr val="dk1"/>
              </a:buClr>
              <a:buSzPts val="2800"/>
              <a:buFont typeface="Arial"/>
              <a:buNone/>
            </a:pPr>
            <a:r>
              <a:rPr lang="en-CA" sz="1600">
                <a:solidFill>
                  <a:schemeClr val="lt1"/>
                </a:solidFill>
              </a:rPr>
              <a:t>Tejas Samudrala 002700327</a:t>
            </a:r>
            <a:endParaRPr sz="1600">
              <a:solidFill>
                <a:schemeClr val="lt1"/>
              </a:solidFill>
            </a:endParaRPr>
          </a:p>
        </p:txBody>
      </p:sp>
      <p:sp>
        <p:nvSpPr>
          <p:cNvPr id="89" name="Google Shape;89;p1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3040"/>
          </a:srgbClr>
        </a:solidFill>
      </p:bgPr>
    </p:bg>
    <p:spTree>
      <p:nvGrpSpPr>
        <p:cNvPr id="93" name="Shape 93"/>
        <p:cNvGrpSpPr/>
        <p:nvPr/>
      </p:nvGrpSpPr>
      <p:grpSpPr>
        <a:xfrm>
          <a:off x="0" y="0"/>
          <a:ext cx="0" cy="0"/>
          <a:chOff x="0" y="0"/>
          <a:chExt cx="0" cy="0"/>
        </a:xfrm>
      </p:grpSpPr>
      <p:pic>
        <p:nvPicPr>
          <p:cNvPr id="94" name="Google Shape;94;p14"/>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95" name="Google Shape;95;p14"/>
          <p:cNvSpPr/>
          <p:nvPr/>
        </p:nvSpPr>
        <p:spPr>
          <a:xfrm>
            <a:off x="203250" y="222750"/>
            <a:ext cx="11785500" cy="6412500"/>
          </a:xfrm>
          <a:prstGeom prst="rect">
            <a:avLst/>
          </a:prstGeom>
          <a:solidFill>
            <a:srgbClr val="FFFFFF">
              <a:alpha val="9177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96" name="Google Shape;96;p14"/>
          <p:cNvSpPr txBox="1"/>
          <p:nvPr>
            <p:ph idx="4294967295"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CA" sz="2400"/>
              <a:t>To design and implement an end-to-end data architecture pipeline for the Instacart dataset using Azure services, enabling seamless data ingestion, transformation, and visualization.</a:t>
            </a:r>
            <a:endParaRPr sz="2400"/>
          </a:p>
          <a:p>
            <a:pPr indent="0" lvl="0" marL="0" rtl="0" algn="l">
              <a:lnSpc>
                <a:spcPct val="115000"/>
              </a:lnSpc>
              <a:spcBef>
                <a:spcPts val="1200"/>
              </a:spcBef>
              <a:spcAft>
                <a:spcPts val="0"/>
              </a:spcAft>
              <a:buClr>
                <a:schemeClr val="dk1"/>
              </a:buClr>
              <a:buSzPts val="1100"/>
              <a:buFont typeface="Arial"/>
              <a:buNone/>
            </a:pPr>
            <a:r>
              <a:rPr lang="en-CA" sz="2400"/>
              <a:t>This project aims to demonstrate a modern, scalable data engineering workflow by integrating Azure Blob Storage, Data Factory, Databricks, Synapse Analytics, and Power BI. The goal is to efficiently manage raw data, perform advanced transformations, and deliver actionable insights through interactive dashboards.</a:t>
            </a:r>
            <a:endParaRPr sz="2400"/>
          </a:p>
          <a:p>
            <a:pPr indent="0" lvl="0" marL="0" rtl="0" algn="l">
              <a:lnSpc>
                <a:spcPct val="90000"/>
              </a:lnSpc>
              <a:spcBef>
                <a:spcPts val="1200"/>
              </a:spcBef>
              <a:spcAft>
                <a:spcPts val="0"/>
              </a:spcAft>
              <a:buClr>
                <a:schemeClr val="dk1"/>
              </a:buClr>
              <a:buSzPts val="1800"/>
              <a:buNone/>
            </a:pPr>
            <a:r>
              <a:t/>
            </a:r>
            <a:endParaRPr sz="2400"/>
          </a:p>
        </p:txBody>
      </p:sp>
      <p:sp>
        <p:nvSpPr>
          <p:cNvPr id="97" name="Google Shape;97;p14"/>
          <p:cNvSpPr txBox="1"/>
          <p:nvPr>
            <p:ph idx="4294967295" type="title"/>
          </p:nvPr>
        </p:nvSpPr>
        <p:spPr>
          <a:xfrm>
            <a:off x="1162300" y="3159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Objective</a:t>
            </a:r>
            <a:endParaRPr b="1"/>
          </a:p>
        </p:txBody>
      </p:sp>
      <p:sp>
        <p:nvSpPr>
          <p:cNvPr id="98" name="Google Shape;98;p1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alpha val="93040"/>
          </a:srgbClr>
        </a:solidFill>
      </p:bgPr>
    </p:bg>
    <p:spTree>
      <p:nvGrpSpPr>
        <p:cNvPr id="102" name="Shape 102"/>
        <p:cNvGrpSpPr/>
        <p:nvPr/>
      </p:nvGrpSpPr>
      <p:grpSpPr>
        <a:xfrm>
          <a:off x="0" y="0"/>
          <a:ext cx="0" cy="0"/>
          <a:chOff x="0" y="0"/>
          <a:chExt cx="0" cy="0"/>
        </a:xfrm>
      </p:grpSpPr>
      <p:pic>
        <p:nvPicPr>
          <p:cNvPr id="103" name="Google Shape;103;p15"/>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104" name="Google Shape;104;p15"/>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05" name="Google Shape;105;p15"/>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Tools Used</a:t>
            </a:r>
            <a:endParaRPr b="1"/>
          </a:p>
        </p:txBody>
      </p:sp>
      <p:sp>
        <p:nvSpPr>
          <p:cNvPr id="106" name="Google Shape;106;p15"/>
          <p:cNvSpPr txBox="1"/>
          <p:nvPr>
            <p:ph idx="4294967295"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81000" lvl="0" marL="457200" rtl="0" algn="l">
              <a:lnSpc>
                <a:spcPct val="115000"/>
              </a:lnSpc>
              <a:spcBef>
                <a:spcPts val="0"/>
              </a:spcBef>
              <a:spcAft>
                <a:spcPts val="0"/>
              </a:spcAft>
              <a:buSzPts val="2400"/>
              <a:buChar char="•"/>
            </a:pPr>
            <a:r>
              <a:rPr lang="en-CA" sz="2400"/>
              <a:t>Azure Blob Storage</a:t>
            </a:r>
            <a:endParaRPr sz="2400"/>
          </a:p>
          <a:p>
            <a:pPr indent="-381000" lvl="0" marL="457200" rtl="0" algn="l">
              <a:lnSpc>
                <a:spcPct val="115000"/>
              </a:lnSpc>
              <a:spcBef>
                <a:spcPts val="0"/>
              </a:spcBef>
              <a:spcAft>
                <a:spcPts val="0"/>
              </a:spcAft>
              <a:buSzPts val="2400"/>
              <a:buChar char="•"/>
            </a:pPr>
            <a:r>
              <a:rPr lang="en-CA" sz="2400"/>
              <a:t>Data Factory</a:t>
            </a:r>
            <a:endParaRPr sz="2400"/>
          </a:p>
          <a:p>
            <a:pPr indent="-381000" lvl="0" marL="457200" rtl="0" algn="l">
              <a:lnSpc>
                <a:spcPct val="115000"/>
              </a:lnSpc>
              <a:spcBef>
                <a:spcPts val="0"/>
              </a:spcBef>
              <a:spcAft>
                <a:spcPts val="0"/>
              </a:spcAft>
              <a:buSzPts val="2400"/>
              <a:buChar char="•"/>
            </a:pPr>
            <a:r>
              <a:rPr lang="en-CA" sz="2400"/>
              <a:t>Databricks</a:t>
            </a:r>
            <a:endParaRPr sz="2400"/>
          </a:p>
          <a:p>
            <a:pPr indent="-381000" lvl="0" marL="457200" rtl="0" algn="l">
              <a:lnSpc>
                <a:spcPct val="115000"/>
              </a:lnSpc>
              <a:spcBef>
                <a:spcPts val="0"/>
              </a:spcBef>
              <a:spcAft>
                <a:spcPts val="0"/>
              </a:spcAft>
              <a:buSzPts val="2400"/>
              <a:buChar char="•"/>
            </a:pPr>
            <a:r>
              <a:rPr lang="en-CA" sz="2400"/>
              <a:t>Data Lake Gen2</a:t>
            </a:r>
            <a:endParaRPr sz="2400"/>
          </a:p>
          <a:p>
            <a:pPr indent="-381000" lvl="0" marL="457200" rtl="0" algn="l">
              <a:lnSpc>
                <a:spcPct val="115000"/>
              </a:lnSpc>
              <a:spcBef>
                <a:spcPts val="0"/>
              </a:spcBef>
              <a:spcAft>
                <a:spcPts val="0"/>
              </a:spcAft>
              <a:buSzPts val="2400"/>
              <a:buChar char="•"/>
            </a:pPr>
            <a:r>
              <a:rPr lang="en-CA" sz="2400"/>
              <a:t>Synapse Serverless SQL</a:t>
            </a:r>
            <a:endParaRPr sz="2400"/>
          </a:p>
          <a:p>
            <a:pPr indent="-381000" lvl="0" marL="457200" rtl="0" algn="l">
              <a:lnSpc>
                <a:spcPct val="115000"/>
              </a:lnSpc>
              <a:spcBef>
                <a:spcPts val="0"/>
              </a:spcBef>
              <a:spcAft>
                <a:spcPts val="0"/>
              </a:spcAft>
              <a:buSzPts val="2400"/>
              <a:buChar char="•"/>
            </a:pPr>
            <a:r>
              <a:rPr lang="en-CA" sz="2400"/>
              <a:t>Power BI</a:t>
            </a:r>
            <a:r>
              <a:rPr lang="en-CA"/>
              <a:t> </a:t>
            </a:r>
            <a:endParaRPr sz="2400"/>
          </a:p>
        </p:txBody>
      </p:sp>
      <p:sp>
        <p:nvSpPr>
          <p:cNvPr id="107" name="Google Shape;107;p1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16"/>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113" name="Google Shape;113;p16"/>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14" name="Google Shape;114;p16"/>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Data Architecture</a:t>
            </a:r>
            <a:endParaRPr b="1"/>
          </a:p>
        </p:txBody>
      </p:sp>
      <p:pic>
        <p:nvPicPr>
          <p:cNvPr id="115" name="Google Shape;115;p16"/>
          <p:cNvPicPr preferRelativeResize="0"/>
          <p:nvPr>
            <p:ph idx="4294967295" type="body"/>
          </p:nvPr>
        </p:nvPicPr>
        <p:blipFill rotWithShape="1">
          <a:blip r:embed="rId4">
            <a:alphaModFix/>
          </a:blip>
          <a:srcRect b="0" l="0" r="0" t="0"/>
          <a:stretch/>
        </p:blipFill>
        <p:spPr>
          <a:xfrm>
            <a:off x="1323725" y="1989451"/>
            <a:ext cx="8658600" cy="3650100"/>
          </a:xfrm>
          <a:prstGeom prst="rect">
            <a:avLst/>
          </a:prstGeom>
          <a:noFill/>
          <a:ln>
            <a:noFill/>
          </a:ln>
        </p:spPr>
      </p:pic>
      <p:sp>
        <p:nvSpPr>
          <p:cNvPr id="116" name="Google Shape;116;p1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17"/>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122" name="Google Shape;122;p17"/>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23" name="Google Shape;123;p17"/>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Data Source</a:t>
            </a:r>
            <a:endParaRPr b="1"/>
          </a:p>
        </p:txBody>
      </p:sp>
      <p:sp>
        <p:nvSpPr>
          <p:cNvPr id="124" name="Google Shape;124;p17"/>
          <p:cNvSpPr txBox="1"/>
          <p:nvPr>
            <p:ph idx="4294967295" type="body"/>
          </p:nvPr>
        </p:nvSpPr>
        <p:spPr>
          <a:xfrm>
            <a:off x="838200" y="1825625"/>
            <a:ext cx="3498600" cy="4351200"/>
          </a:xfrm>
          <a:prstGeom prst="rect">
            <a:avLst/>
          </a:prstGeom>
          <a:noFill/>
          <a:ln>
            <a:noFill/>
          </a:ln>
        </p:spPr>
        <p:txBody>
          <a:bodyPr anchorCtr="0" anchor="t" bIns="45700" lIns="91425" spcFirstLastPara="1" rIns="91425" wrap="square" tIns="45700">
            <a:normAutofit fontScale="92500" lnSpcReduction="10000"/>
          </a:bodyPr>
          <a:lstStyle/>
          <a:p>
            <a:pPr indent="-338137" lvl="0" marL="342900" rtl="0" algn="l">
              <a:lnSpc>
                <a:spcPct val="115000"/>
              </a:lnSpc>
              <a:spcBef>
                <a:spcPts val="0"/>
              </a:spcBef>
              <a:spcAft>
                <a:spcPts val="0"/>
              </a:spcAft>
              <a:buClr>
                <a:schemeClr val="dk1"/>
              </a:buClr>
              <a:buSzPct val="55555"/>
              <a:buFont typeface="Noto Sans Symbols"/>
              <a:buChar char="∙"/>
            </a:pPr>
            <a:r>
              <a:rPr b="1" lang="en-CA" sz="1800"/>
              <a:t>Source</a:t>
            </a:r>
            <a:r>
              <a:rPr lang="en-CA" sz="1800"/>
              <a:t>: Kaggle Dataset - </a:t>
            </a:r>
            <a:r>
              <a:rPr lang="en-CA" sz="1800" u="sng">
                <a:solidFill>
                  <a:schemeClr val="hlink"/>
                </a:solidFill>
                <a:hlinkClick r:id="rId4"/>
              </a:rPr>
              <a:t>Instacart Online Grocery Basket Analysis</a:t>
            </a:r>
            <a:endParaRPr sz="1800"/>
          </a:p>
          <a:p>
            <a:pPr indent="-338137" lvl="0" marL="342900" rtl="0" algn="l">
              <a:lnSpc>
                <a:spcPct val="115000"/>
              </a:lnSpc>
              <a:spcBef>
                <a:spcPts val="1800"/>
              </a:spcBef>
              <a:spcAft>
                <a:spcPts val="0"/>
              </a:spcAft>
              <a:buClr>
                <a:schemeClr val="dk1"/>
              </a:buClr>
              <a:buSzPct val="55555"/>
              <a:buFont typeface="Noto Sans Symbols"/>
              <a:buChar char="∙"/>
            </a:pPr>
            <a:r>
              <a:rPr b="1" lang="en-CA" sz="1800"/>
              <a:t>Format</a:t>
            </a:r>
            <a:r>
              <a:rPr lang="en-CA" sz="1800"/>
              <a:t>: Multiple CSV files (orders, products, aisles, departments, etc.)</a:t>
            </a:r>
            <a:endParaRPr sz="1800"/>
          </a:p>
          <a:p>
            <a:pPr indent="-338137" lvl="0" marL="342900" rtl="0" algn="l">
              <a:lnSpc>
                <a:spcPct val="115000"/>
              </a:lnSpc>
              <a:spcBef>
                <a:spcPts val="1800"/>
              </a:spcBef>
              <a:spcAft>
                <a:spcPts val="0"/>
              </a:spcAft>
              <a:buClr>
                <a:schemeClr val="dk1"/>
              </a:buClr>
              <a:buSzPct val="55555"/>
              <a:buFont typeface="Noto Sans Symbols"/>
              <a:buChar char="∙"/>
            </a:pPr>
            <a:r>
              <a:rPr b="1" lang="en-CA" sz="1800"/>
              <a:t>Size</a:t>
            </a:r>
            <a:r>
              <a:rPr lang="en-CA" sz="1800"/>
              <a:t>: Large - Not suitable for direct GitHub usage</a:t>
            </a:r>
            <a:endParaRPr sz="1800"/>
          </a:p>
          <a:p>
            <a:pPr indent="-338137" lvl="0" marL="342900" rtl="0" algn="l">
              <a:lnSpc>
                <a:spcPct val="115000"/>
              </a:lnSpc>
              <a:spcBef>
                <a:spcPts val="1800"/>
              </a:spcBef>
              <a:spcAft>
                <a:spcPts val="0"/>
              </a:spcAft>
              <a:buClr>
                <a:schemeClr val="dk1"/>
              </a:buClr>
              <a:buSzPct val="55555"/>
              <a:buFont typeface="Noto Sans Symbols"/>
              <a:buChar char="∙"/>
            </a:pPr>
            <a:r>
              <a:rPr b="1" lang="en-CA" sz="1800"/>
              <a:t>Upload Method</a:t>
            </a:r>
            <a:r>
              <a:rPr lang="en-CA" sz="1800"/>
              <a:t>: Downloaded locally and uploaded to Azure Blob Storage</a:t>
            </a:r>
            <a:endParaRPr sz="1800"/>
          </a:p>
          <a:p>
            <a:pPr indent="0" lvl="0" marL="0" rtl="0" algn="l">
              <a:lnSpc>
                <a:spcPct val="90000"/>
              </a:lnSpc>
              <a:spcBef>
                <a:spcPts val="1800"/>
              </a:spcBef>
              <a:spcAft>
                <a:spcPts val="0"/>
              </a:spcAft>
              <a:buClr>
                <a:schemeClr val="dk1"/>
              </a:buClr>
              <a:buSzPct val="100000"/>
              <a:buNone/>
            </a:pPr>
            <a:r>
              <a:t/>
            </a:r>
            <a:endParaRPr/>
          </a:p>
        </p:txBody>
      </p:sp>
      <p:pic>
        <p:nvPicPr>
          <p:cNvPr id="125" name="Google Shape;125;p17"/>
          <p:cNvPicPr preferRelativeResize="0"/>
          <p:nvPr/>
        </p:nvPicPr>
        <p:blipFill>
          <a:blip r:embed="rId5">
            <a:alphaModFix/>
          </a:blip>
          <a:stretch>
            <a:fillRect/>
          </a:stretch>
        </p:blipFill>
        <p:spPr>
          <a:xfrm>
            <a:off x="4552700" y="1690700"/>
            <a:ext cx="6620726" cy="4351200"/>
          </a:xfrm>
          <a:prstGeom prst="rect">
            <a:avLst/>
          </a:prstGeom>
          <a:noFill/>
          <a:ln>
            <a:noFill/>
          </a:ln>
        </p:spPr>
      </p:pic>
      <p:sp>
        <p:nvSpPr>
          <p:cNvPr id="126" name="Google Shape;126;p1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8"/>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132" name="Google Shape;132;p18"/>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33" name="Google Shape;133;p18"/>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Data Ingestion Layer</a:t>
            </a:r>
            <a:endParaRPr b="1"/>
          </a:p>
        </p:txBody>
      </p:sp>
      <p:sp>
        <p:nvSpPr>
          <p:cNvPr id="134" name="Google Shape;134;p18"/>
          <p:cNvSpPr txBox="1"/>
          <p:nvPr>
            <p:ph idx="4294967295" type="body"/>
          </p:nvPr>
        </p:nvSpPr>
        <p:spPr>
          <a:xfrm>
            <a:off x="838200" y="1825625"/>
            <a:ext cx="2989200" cy="4351200"/>
          </a:xfrm>
          <a:prstGeom prst="rect">
            <a:avLst/>
          </a:prstGeom>
          <a:noFill/>
          <a:ln>
            <a:noFill/>
          </a:ln>
        </p:spPr>
        <p:txBody>
          <a:bodyPr anchorCtr="0" anchor="t" bIns="45700" lIns="91425" spcFirstLastPara="1" rIns="91425" wrap="square" tIns="45700">
            <a:noAutofit/>
          </a:bodyPr>
          <a:lstStyle/>
          <a:p>
            <a:pPr indent="-361950" lvl="0" marL="342900" rtl="0" algn="l">
              <a:lnSpc>
                <a:spcPct val="115000"/>
              </a:lnSpc>
              <a:spcBef>
                <a:spcPts val="0"/>
              </a:spcBef>
              <a:spcAft>
                <a:spcPts val="0"/>
              </a:spcAft>
              <a:buClr>
                <a:schemeClr val="dk1"/>
              </a:buClr>
              <a:buSzPts val="1300"/>
              <a:buFont typeface="Noto Sans Symbols"/>
              <a:buChar char="∙"/>
            </a:pPr>
            <a:r>
              <a:rPr b="1" lang="en-CA" sz="1500"/>
              <a:t>Platform</a:t>
            </a:r>
            <a:r>
              <a:rPr lang="en-CA" sz="1500"/>
              <a:t>: </a:t>
            </a:r>
            <a:endParaRPr sz="1500"/>
          </a:p>
          <a:p>
            <a:pPr indent="0" lvl="0" marL="228600" rtl="0" algn="l">
              <a:lnSpc>
                <a:spcPct val="115000"/>
              </a:lnSpc>
              <a:spcBef>
                <a:spcPts val="0"/>
              </a:spcBef>
              <a:spcAft>
                <a:spcPts val="0"/>
              </a:spcAft>
              <a:buNone/>
            </a:pPr>
            <a:r>
              <a:rPr lang="en-CA" sz="1500"/>
              <a:t>  Azure Data Factory</a:t>
            </a:r>
            <a:endParaRPr sz="1500"/>
          </a:p>
          <a:p>
            <a:pPr indent="-361950" lvl="0" marL="342900" rtl="0" algn="l">
              <a:lnSpc>
                <a:spcPct val="115000"/>
              </a:lnSpc>
              <a:spcBef>
                <a:spcPts val="1800"/>
              </a:spcBef>
              <a:spcAft>
                <a:spcPts val="0"/>
              </a:spcAft>
              <a:buClr>
                <a:schemeClr val="dk1"/>
              </a:buClr>
              <a:buSzPts val="1300"/>
              <a:buFont typeface="Noto Sans Symbols"/>
              <a:buChar char="∙"/>
            </a:pPr>
            <a:r>
              <a:rPr b="1" lang="en-CA" sz="1500"/>
              <a:t>Source</a:t>
            </a:r>
            <a:r>
              <a:rPr lang="en-CA" sz="1500"/>
              <a:t>: Azure Blob Storage (Bronze Layer)</a:t>
            </a:r>
            <a:endParaRPr sz="1500"/>
          </a:p>
          <a:p>
            <a:pPr indent="-361950" lvl="0" marL="342900" rtl="0" algn="l">
              <a:lnSpc>
                <a:spcPct val="115000"/>
              </a:lnSpc>
              <a:spcBef>
                <a:spcPts val="1800"/>
              </a:spcBef>
              <a:spcAft>
                <a:spcPts val="0"/>
              </a:spcAft>
              <a:buClr>
                <a:schemeClr val="dk1"/>
              </a:buClr>
              <a:buSzPts val="1300"/>
              <a:buFont typeface="Noto Sans Symbols"/>
              <a:buChar char="∙"/>
            </a:pPr>
            <a:r>
              <a:rPr b="1" lang="en-CA" sz="1500"/>
              <a:t>Destination</a:t>
            </a:r>
            <a:r>
              <a:rPr lang="en-CA" sz="1500"/>
              <a:t>: Azure Data Lake Gen2 (Raw Zone)</a:t>
            </a:r>
            <a:endParaRPr sz="1500"/>
          </a:p>
          <a:p>
            <a:pPr indent="-361950" lvl="0" marL="342900" rtl="0" algn="l">
              <a:lnSpc>
                <a:spcPct val="115000"/>
              </a:lnSpc>
              <a:spcBef>
                <a:spcPts val="1800"/>
              </a:spcBef>
              <a:spcAft>
                <a:spcPts val="0"/>
              </a:spcAft>
              <a:buClr>
                <a:schemeClr val="dk1"/>
              </a:buClr>
              <a:buSzPts val="1300"/>
              <a:buFont typeface="Noto Sans Symbols"/>
              <a:buChar char="∙"/>
            </a:pPr>
            <a:r>
              <a:rPr b="1" lang="en-CA" sz="1500"/>
              <a:t>Features</a:t>
            </a:r>
            <a:r>
              <a:rPr lang="en-CA" sz="1500"/>
              <a:t>:</a:t>
            </a:r>
            <a:endParaRPr sz="1500"/>
          </a:p>
          <a:p>
            <a:pPr indent="-304800" lvl="1" marL="742950" rtl="0" algn="l">
              <a:lnSpc>
                <a:spcPct val="115000"/>
              </a:lnSpc>
              <a:spcBef>
                <a:spcPts val="1300"/>
              </a:spcBef>
              <a:spcAft>
                <a:spcPts val="0"/>
              </a:spcAft>
              <a:buClr>
                <a:schemeClr val="dk1"/>
              </a:buClr>
              <a:buSzPts val="1300"/>
              <a:buChar char="o"/>
            </a:pPr>
            <a:r>
              <a:rPr lang="en-CA" sz="1500"/>
              <a:t>Metadata-driven pipeline</a:t>
            </a:r>
            <a:endParaRPr sz="1500"/>
          </a:p>
          <a:p>
            <a:pPr indent="-304800" lvl="1" marL="742950" rtl="0" algn="l">
              <a:lnSpc>
                <a:spcPct val="115000"/>
              </a:lnSpc>
              <a:spcBef>
                <a:spcPts val="1300"/>
              </a:spcBef>
              <a:spcAft>
                <a:spcPts val="0"/>
              </a:spcAft>
              <a:buClr>
                <a:schemeClr val="dk1"/>
              </a:buClr>
              <a:buSzPts val="1300"/>
              <a:buChar char="o"/>
            </a:pPr>
            <a:r>
              <a:rPr lang="en-CA" sz="1500"/>
              <a:t>Copy Data activity</a:t>
            </a:r>
            <a:endParaRPr sz="1500"/>
          </a:p>
          <a:p>
            <a:pPr indent="-304800" lvl="1" marL="742950" rtl="0" algn="l">
              <a:lnSpc>
                <a:spcPct val="115000"/>
              </a:lnSpc>
              <a:spcBef>
                <a:spcPts val="1300"/>
              </a:spcBef>
              <a:spcAft>
                <a:spcPts val="0"/>
              </a:spcAft>
              <a:buClr>
                <a:schemeClr val="dk1"/>
              </a:buClr>
              <a:buSzPts val="1300"/>
              <a:buChar char="o"/>
            </a:pPr>
            <a:r>
              <a:rPr lang="en-CA" sz="1500"/>
              <a:t>Support for dynamic file loading</a:t>
            </a:r>
            <a:endParaRPr sz="1500"/>
          </a:p>
          <a:p>
            <a:pPr indent="0" lvl="0" marL="0" rtl="0" algn="l">
              <a:lnSpc>
                <a:spcPct val="90000"/>
              </a:lnSpc>
              <a:spcBef>
                <a:spcPts val="1800"/>
              </a:spcBef>
              <a:spcAft>
                <a:spcPts val="0"/>
              </a:spcAft>
              <a:buClr>
                <a:schemeClr val="dk1"/>
              </a:buClr>
              <a:buSzPts val="2800"/>
              <a:buNone/>
            </a:pPr>
            <a:r>
              <a:t/>
            </a:r>
            <a:endParaRPr sz="3100"/>
          </a:p>
        </p:txBody>
      </p:sp>
      <p:pic>
        <p:nvPicPr>
          <p:cNvPr id="135" name="Google Shape;135;p18"/>
          <p:cNvPicPr preferRelativeResize="0"/>
          <p:nvPr/>
        </p:nvPicPr>
        <p:blipFill>
          <a:blip r:embed="rId4">
            <a:alphaModFix/>
          </a:blip>
          <a:stretch>
            <a:fillRect/>
          </a:stretch>
        </p:blipFill>
        <p:spPr>
          <a:xfrm>
            <a:off x="4321224" y="4251600"/>
            <a:ext cx="6217001" cy="2338274"/>
          </a:xfrm>
          <a:prstGeom prst="rect">
            <a:avLst/>
          </a:prstGeom>
          <a:noFill/>
          <a:ln>
            <a:noFill/>
          </a:ln>
        </p:spPr>
      </p:pic>
      <p:pic>
        <p:nvPicPr>
          <p:cNvPr id="136" name="Google Shape;136;p18"/>
          <p:cNvPicPr preferRelativeResize="0"/>
          <p:nvPr/>
        </p:nvPicPr>
        <p:blipFill>
          <a:blip r:embed="rId5">
            <a:alphaModFix/>
          </a:blip>
          <a:stretch>
            <a:fillRect/>
          </a:stretch>
        </p:blipFill>
        <p:spPr>
          <a:xfrm>
            <a:off x="8108098" y="1843100"/>
            <a:ext cx="2989200" cy="2117650"/>
          </a:xfrm>
          <a:prstGeom prst="rect">
            <a:avLst/>
          </a:prstGeom>
          <a:noFill/>
          <a:ln>
            <a:noFill/>
          </a:ln>
        </p:spPr>
      </p:pic>
      <p:pic>
        <p:nvPicPr>
          <p:cNvPr id="137" name="Google Shape;137;p18"/>
          <p:cNvPicPr preferRelativeResize="0"/>
          <p:nvPr/>
        </p:nvPicPr>
        <p:blipFill>
          <a:blip r:embed="rId6">
            <a:alphaModFix/>
          </a:blip>
          <a:stretch>
            <a:fillRect/>
          </a:stretch>
        </p:blipFill>
        <p:spPr>
          <a:xfrm>
            <a:off x="3979800" y="1843088"/>
            <a:ext cx="3754025" cy="2117655"/>
          </a:xfrm>
          <a:prstGeom prst="rect">
            <a:avLst/>
          </a:prstGeom>
          <a:noFill/>
          <a:ln>
            <a:noFill/>
          </a:ln>
        </p:spPr>
      </p:pic>
      <p:sp>
        <p:nvSpPr>
          <p:cNvPr id="138" name="Google Shape;138;p1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9"/>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144" name="Google Shape;144;p19"/>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45" name="Google Shape;145;p19"/>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Storage Structure</a:t>
            </a:r>
            <a:endParaRPr b="1"/>
          </a:p>
        </p:txBody>
      </p:sp>
      <p:sp>
        <p:nvSpPr>
          <p:cNvPr id="146" name="Google Shape;146;p19"/>
          <p:cNvSpPr txBox="1"/>
          <p:nvPr>
            <p:ph idx="4294967295" type="body"/>
          </p:nvPr>
        </p:nvSpPr>
        <p:spPr>
          <a:xfrm>
            <a:off x="838200" y="1825625"/>
            <a:ext cx="3535800" cy="4351200"/>
          </a:xfrm>
          <a:prstGeom prst="rect">
            <a:avLst/>
          </a:prstGeom>
          <a:noFill/>
          <a:ln>
            <a:noFill/>
          </a:ln>
        </p:spPr>
        <p:txBody>
          <a:bodyPr anchorCtr="0" anchor="t" bIns="45700" lIns="91425" spcFirstLastPara="1" rIns="91425" wrap="square" tIns="45700">
            <a:normAutofit/>
          </a:bodyPr>
          <a:lstStyle/>
          <a:p>
            <a:pPr indent="-387350" lvl="0" marL="342900" rtl="0" algn="l">
              <a:lnSpc>
                <a:spcPct val="105000"/>
              </a:lnSpc>
              <a:spcBef>
                <a:spcPts val="0"/>
              </a:spcBef>
              <a:spcAft>
                <a:spcPts val="0"/>
              </a:spcAft>
              <a:buClr>
                <a:schemeClr val="dk1"/>
              </a:buClr>
              <a:buSzPts val="1700"/>
              <a:buFont typeface="Noto Sans Symbols"/>
              <a:buChar char="●"/>
            </a:pPr>
            <a:r>
              <a:rPr b="1" lang="en-CA" sz="1700"/>
              <a:t>Raw Layer</a:t>
            </a:r>
            <a:r>
              <a:rPr lang="en-CA" sz="1700"/>
              <a:t>: </a:t>
            </a:r>
            <a:endParaRPr sz="1700"/>
          </a:p>
          <a:p>
            <a:pPr indent="0" lvl="0" marL="228600" rtl="0" algn="l">
              <a:lnSpc>
                <a:spcPct val="105000"/>
              </a:lnSpc>
              <a:spcBef>
                <a:spcPts val="0"/>
              </a:spcBef>
              <a:spcAft>
                <a:spcPts val="0"/>
              </a:spcAft>
              <a:buNone/>
            </a:pPr>
            <a:r>
              <a:rPr lang="en-CA" sz="1700"/>
              <a:t>  Bronze container (raw CSVs)</a:t>
            </a:r>
            <a:endParaRPr sz="1700"/>
          </a:p>
          <a:p>
            <a:pPr indent="-387350" lvl="0" marL="342900" rtl="0" algn="l">
              <a:lnSpc>
                <a:spcPct val="105000"/>
              </a:lnSpc>
              <a:spcBef>
                <a:spcPts val="1800"/>
              </a:spcBef>
              <a:spcAft>
                <a:spcPts val="0"/>
              </a:spcAft>
              <a:buClr>
                <a:schemeClr val="dk1"/>
              </a:buClr>
              <a:buSzPts val="1700"/>
              <a:buFont typeface="Noto Sans Symbols"/>
              <a:buChar char="●"/>
            </a:pPr>
            <a:r>
              <a:rPr b="1" lang="en-CA" sz="1700"/>
              <a:t>Processed Layer</a:t>
            </a:r>
            <a:r>
              <a:rPr lang="en-CA" sz="1700"/>
              <a:t>: Silver container (cleaned Delta/Parquet files)</a:t>
            </a:r>
            <a:endParaRPr sz="1700"/>
          </a:p>
          <a:p>
            <a:pPr indent="-387350" lvl="0" marL="342900" rtl="0" algn="l">
              <a:lnSpc>
                <a:spcPct val="105000"/>
              </a:lnSpc>
              <a:spcBef>
                <a:spcPts val="1800"/>
              </a:spcBef>
              <a:spcAft>
                <a:spcPts val="0"/>
              </a:spcAft>
              <a:buClr>
                <a:schemeClr val="dk1"/>
              </a:buClr>
              <a:buSzPts val="1700"/>
              <a:buFont typeface="Noto Sans Symbols"/>
              <a:buChar char="●"/>
            </a:pPr>
            <a:r>
              <a:rPr b="1" lang="en-CA" sz="1700"/>
              <a:t>Analytics Layer</a:t>
            </a:r>
            <a:r>
              <a:rPr lang="en-CA" sz="1700"/>
              <a:t>: Logical gold layer (SQL views in Synapse)</a:t>
            </a:r>
            <a:endParaRPr sz="1700"/>
          </a:p>
        </p:txBody>
      </p:sp>
      <p:pic>
        <p:nvPicPr>
          <p:cNvPr id="147" name="Google Shape;147;p19"/>
          <p:cNvPicPr preferRelativeResize="0"/>
          <p:nvPr/>
        </p:nvPicPr>
        <p:blipFill>
          <a:blip r:embed="rId4">
            <a:alphaModFix/>
          </a:blip>
          <a:stretch>
            <a:fillRect/>
          </a:stretch>
        </p:blipFill>
        <p:spPr>
          <a:xfrm>
            <a:off x="4374000" y="1843100"/>
            <a:ext cx="7665603" cy="3544499"/>
          </a:xfrm>
          <a:prstGeom prst="rect">
            <a:avLst/>
          </a:prstGeom>
          <a:noFill/>
          <a:ln>
            <a:noFill/>
          </a:ln>
        </p:spPr>
      </p:pic>
      <p:sp>
        <p:nvSpPr>
          <p:cNvPr id="148" name="Google Shape;148;p1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0"/>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154" name="Google Shape;154;p20"/>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55" name="Google Shape;155;p20"/>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Data Transformation Layer</a:t>
            </a:r>
            <a:endParaRPr b="1"/>
          </a:p>
        </p:txBody>
      </p:sp>
      <p:sp>
        <p:nvSpPr>
          <p:cNvPr id="156" name="Google Shape;156;p20"/>
          <p:cNvSpPr txBox="1"/>
          <p:nvPr>
            <p:ph idx="4294967295" type="body"/>
          </p:nvPr>
        </p:nvSpPr>
        <p:spPr>
          <a:xfrm>
            <a:off x="838200" y="1825625"/>
            <a:ext cx="34212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CA" sz="1600"/>
              <a:t>Tool</a:t>
            </a:r>
            <a:r>
              <a:rPr lang="en-CA" sz="1600"/>
              <a:t>: Azure Databricks (PySpark)</a:t>
            </a:r>
            <a:endParaRPr sz="1600"/>
          </a:p>
          <a:p>
            <a:pPr indent="0" lvl="0" marL="0" rtl="0" algn="l">
              <a:lnSpc>
                <a:spcPct val="115000"/>
              </a:lnSpc>
              <a:spcBef>
                <a:spcPts val="1800"/>
              </a:spcBef>
              <a:spcAft>
                <a:spcPts val="0"/>
              </a:spcAft>
              <a:buNone/>
            </a:pPr>
            <a:r>
              <a:rPr b="1" lang="en-CA" sz="1600"/>
              <a:t>Activities</a:t>
            </a:r>
            <a:r>
              <a:rPr lang="en-CA" sz="1600"/>
              <a:t>:</a:t>
            </a:r>
            <a:endParaRPr sz="1600"/>
          </a:p>
          <a:p>
            <a:pPr indent="-323850" lvl="1" marL="742950" rtl="0" algn="l">
              <a:lnSpc>
                <a:spcPct val="115000"/>
              </a:lnSpc>
              <a:spcBef>
                <a:spcPts val="1300"/>
              </a:spcBef>
              <a:spcAft>
                <a:spcPts val="0"/>
              </a:spcAft>
              <a:buClr>
                <a:schemeClr val="dk1"/>
              </a:buClr>
              <a:buSzPts val="1600"/>
              <a:buChar char="o"/>
            </a:pPr>
            <a:r>
              <a:rPr lang="en-CA" sz="1600"/>
              <a:t>Mount blob containers using SAS token</a:t>
            </a:r>
            <a:endParaRPr sz="1600"/>
          </a:p>
          <a:p>
            <a:pPr indent="-323850" lvl="1" marL="742950" rtl="0" algn="l">
              <a:lnSpc>
                <a:spcPct val="115000"/>
              </a:lnSpc>
              <a:spcBef>
                <a:spcPts val="1300"/>
              </a:spcBef>
              <a:spcAft>
                <a:spcPts val="0"/>
              </a:spcAft>
              <a:buClr>
                <a:schemeClr val="dk1"/>
              </a:buClr>
              <a:buSzPts val="1600"/>
              <a:buChar char="o"/>
            </a:pPr>
            <a:r>
              <a:rPr lang="en-CA" sz="1600"/>
              <a:t>Load and clean each CSV file</a:t>
            </a:r>
            <a:endParaRPr sz="1600"/>
          </a:p>
          <a:p>
            <a:pPr indent="-323850" lvl="1" marL="742950" rtl="0" algn="l">
              <a:lnSpc>
                <a:spcPct val="115000"/>
              </a:lnSpc>
              <a:spcBef>
                <a:spcPts val="1300"/>
              </a:spcBef>
              <a:spcAft>
                <a:spcPts val="0"/>
              </a:spcAft>
              <a:buClr>
                <a:schemeClr val="dk1"/>
              </a:buClr>
              <a:buSzPts val="1600"/>
              <a:buChar char="o"/>
            </a:pPr>
            <a:r>
              <a:rPr lang="en-CA" sz="1600"/>
              <a:t>Save as optimized Parquet/Delta format</a:t>
            </a:r>
            <a:endParaRPr sz="1600"/>
          </a:p>
          <a:p>
            <a:pPr indent="-323850" lvl="1" marL="742950" rtl="0" algn="l">
              <a:lnSpc>
                <a:spcPct val="115000"/>
              </a:lnSpc>
              <a:spcBef>
                <a:spcPts val="1300"/>
              </a:spcBef>
              <a:spcAft>
                <a:spcPts val="0"/>
              </a:spcAft>
              <a:buClr>
                <a:schemeClr val="dk1"/>
              </a:buClr>
              <a:buSzPts val="1600"/>
              <a:buChar char="o"/>
            </a:pPr>
            <a:r>
              <a:rPr lang="en-CA" sz="1600"/>
              <a:t>Handle missing values, standardize types</a:t>
            </a:r>
            <a:endParaRPr sz="1600"/>
          </a:p>
          <a:p>
            <a:pPr indent="0" lvl="0" marL="0" rtl="0" algn="l">
              <a:lnSpc>
                <a:spcPct val="90000"/>
              </a:lnSpc>
              <a:spcBef>
                <a:spcPts val="1800"/>
              </a:spcBef>
              <a:spcAft>
                <a:spcPts val="0"/>
              </a:spcAft>
              <a:buClr>
                <a:schemeClr val="dk1"/>
              </a:buClr>
              <a:buSzPts val="2800"/>
              <a:buNone/>
            </a:pPr>
            <a:r>
              <a:t/>
            </a:r>
            <a:endParaRPr sz="1600"/>
          </a:p>
        </p:txBody>
      </p:sp>
      <p:pic>
        <p:nvPicPr>
          <p:cNvPr id="157" name="Google Shape;157;p20"/>
          <p:cNvPicPr preferRelativeResize="0"/>
          <p:nvPr/>
        </p:nvPicPr>
        <p:blipFill>
          <a:blip r:embed="rId4">
            <a:alphaModFix/>
          </a:blip>
          <a:stretch>
            <a:fillRect/>
          </a:stretch>
        </p:blipFill>
        <p:spPr>
          <a:xfrm>
            <a:off x="4411800" y="1843100"/>
            <a:ext cx="3597874" cy="2107725"/>
          </a:xfrm>
          <a:prstGeom prst="rect">
            <a:avLst/>
          </a:prstGeom>
          <a:noFill/>
          <a:ln>
            <a:noFill/>
          </a:ln>
        </p:spPr>
      </p:pic>
      <p:pic>
        <p:nvPicPr>
          <p:cNvPr id="158" name="Google Shape;158;p20"/>
          <p:cNvPicPr preferRelativeResize="0"/>
          <p:nvPr/>
        </p:nvPicPr>
        <p:blipFill>
          <a:blip r:embed="rId5">
            <a:alphaModFix/>
          </a:blip>
          <a:stretch>
            <a:fillRect/>
          </a:stretch>
        </p:blipFill>
        <p:spPr>
          <a:xfrm>
            <a:off x="8431275" y="1825625"/>
            <a:ext cx="3421199" cy="2217801"/>
          </a:xfrm>
          <a:prstGeom prst="rect">
            <a:avLst/>
          </a:prstGeom>
          <a:noFill/>
          <a:ln>
            <a:noFill/>
          </a:ln>
        </p:spPr>
      </p:pic>
      <p:pic>
        <p:nvPicPr>
          <p:cNvPr id="159" name="Google Shape;159;p20"/>
          <p:cNvPicPr preferRelativeResize="0"/>
          <p:nvPr/>
        </p:nvPicPr>
        <p:blipFill rotWithShape="1">
          <a:blip r:embed="rId6">
            <a:alphaModFix/>
          </a:blip>
          <a:srcRect b="0" l="0" r="-27567" t="10265"/>
          <a:stretch/>
        </p:blipFill>
        <p:spPr>
          <a:xfrm>
            <a:off x="4411800" y="4621025"/>
            <a:ext cx="3675050" cy="1891300"/>
          </a:xfrm>
          <a:prstGeom prst="rect">
            <a:avLst/>
          </a:prstGeom>
          <a:noFill/>
          <a:ln>
            <a:noFill/>
          </a:ln>
        </p:spPr>
      </p:pic>
      <p:pic>
        <p:nvPicPr>
          <p:cNvPr id="160" name="Google Shape;160;p20"/>
          <p:cNvPicPr preferRelativeResize="0"/>
          <p:nvPr/>
        </p:nvPicPr>
        <p:blipFill>
          <a:blip r:embed="rId7">
            <a:alphaModFix/>
          </a:blip>
          <a:stretch>
            <a:fillRect/>
          </a:stretch>
        </p:blipFill>
        <p:spPr>
          <a:xfrm>
            <a:off x="8542638" y="4664538"/>
            <a:ext cx="3198473" cy="1804267"/>
          </a:xfrm>
          <a:prstGeom prst="rect">
            <a:avLst/>
          </a:prstGeom>
          <a:noFill/>
          <a:ln>
            <a:noFill/>
          </a:ln>
        </p:spPr>
      </p:pic>
      <p:sp>
        <p:nvSpPr>
          <p:cNvPr id="161" name="Google Shape;161;p2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1"/>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167" name="Google Shape;167;p21"/>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68" name="Google Shape;168;p21"/>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Serving Layer- Synapse Analytics</a:t>
            </a:r>
            <a:endParaRPr b="1"/>
          </a:p>
        </p:txBody>
      </p:sp>
      <p:sp>
        <p:nvSpPr>
          <p:cNvPr id="169" name="Google Shape;169;p21"/>
          <p:cNvSpPr txBox="1"/>
          <p:nvPr>
            <p:ph idx="4294967295" type="body"/>
          </p:nvPr>
        </p:nvSpPr>
        <p:spPr>
          <a:xfrm>
            <a:off x="838200" y="1825625"/>
            <a:ext cx="3776400" cy="4351200"/>
          </a:xfrm>
          <a:prstGeom prst="rect">
            <a:avLst/>
          </a:prstGeom>
          <a:noFill/>
          <a:ln>
            <a:noFill/>
          </a:ln>
        </p:spPr>
        <p:txBody>
          <a:bodyPr anchorCtr="0" anchor="t" bIns="45700" lIns="91425" spcFirstLastPara="1" rIns="91425" wrap="square" tIns="45700">
            <a:noAutofit/>
          </a:bodyPr>
          <a:lstStyle/>
          <a:p>
            <a:pPr indent="-368300" lvl="0" marL="342900" rtl="0" algn="l">
              <a:lnSpc>
                <a:spcPct val="115000"/>
              </a:lnSpc>
              <a:spcBef>
                <a:spcPts val="0"/>
              </a:spcBef>
              <a:spcAft>
                <a:spcPts val="0"/>
              </a:spcAft>
              <a:buClr>
                <a:schemeClr val="dk1"/>
              </a:buClr>
              <a:buSzPts val="1400"/>
              <a:buFont typeface="Noto Sans Symbols"/>
              <a:buChar char="●"/>
            </a:pPr>
            <a:r>
              <a:rPr b="1" lang="en-CA" sz="1600"/>
              <a:t>Tool</a:t>
            </a:r>
            <a:r>
              <a:rPr lang="en-CA" sz="1600"/>
              <a:t>: Azure Synapse Serverless SQL</a:t>
            </a:r>
            <a:endParaRPr sz="1600"/>
          </a:p>
          <a:p>
            <a:pPr indent="-368300" lvl="0" marL="342900" rtl="0" algn="l">
              <a:lnSpc>
                <a:spcPct val="115000"/>
              </a:lnSpc>
              <a:spcBef>
                <a:spcPts val="1800"/>
              </a:spcBef>
              <a:spcAft>
                <a:spcPts val="0"/>
              </a:spcAft>
              <a:buClr>
                <a:schemeClr val="dk1"/>
              </a:buClr>
              <a:buSzPts val="1400"/>
              <a:buFont typeface="Noto Sans Symbols"/>
              <a:buChar char="●"/>
            </a:pPr>
            <a:r>
              <a:rPr b="1" lang="en-CA" sz="1600"/>
              <a:t>Data Source</a:t>
            </a:r>
            <a:r>
              <a:rPr lang="en-CA" sz="1600"/>
              <a:t>: External data source to Silver container</a:t>
            </a:r>
            <a:endParaRPr sz="1600"/>
          </a:p>
          <a:p>
            <a:pPr indent="-342900" lvl="0" marL="342900" rtl="0" algn="l">
              <a:lnSpc>
                <a:spcPct val="115000"/>
              </a:lnSpc>
              <a:spcBef>
                <a:spcPts val="1800"/>
              </a:spcBef>
              <a:spcAft>
                <a:spcPts val="0"/>
              </a:spcAft>
              <a:buClr>
                <a:schemeClr val="dk1"/>
              </a:buClr>
              <a:buSzPts val="1000"/>
              <a:buFont typeface="Noto Sans Symbols"/>
              <a:buChar char="●"/>
            </a:pPr>
            <a:r>
              <a:rPr b="1" lang="en-CA" sz="1600"/>
              <a:t>Access Method</a:t>
            </a:r>
            <a:r>
              <a:rPr lang="en-CA" sz="1600"/>
              <a:t>: </a:t>
            </a:r>
            <a:r>
              <a:rPr lang="en-CA" sz="1400"/>
              <a:t>OPENROWSET</a:t>
            </a:r>
            <a:r>
              <a:rPr lang="en-CA" sz="1600"/>
              <a:t> with </a:t>
            </a:r>
            <a:r>
              <a:rPr lang="en-CA" sz="1400"/>
              <a:t>WITH</a:t>
            </a:r>
            <a:r>
              <a:rPr lang="en-CA" sz="1600"/>
              <a:t> schema definitions</a:t>
            </a:r>
            <a:endParaRPr sz="1600"/>
          </a:p>
          <a:p>
            <a:pPr indent="-368300" lvl="0" marL="342900" rtl="0" algn="l">
              <a:lnSpc>
                <a:spcPct val="115000"/>
              </a:lnSpc>
              <a:spcBef>
                <a:spcPts val="1800"/>
              </a:spcBef>
              <a:spcAft>
                <a:spcPts val="0"/>
              </a:spcAft>
              <a:buClr>
                <a:schemeClr val="dk1"/>
              </a:buClr>
              <a:buSzPts val="1400"/>
              <a:buFont typeface="Noto Sans Symbols"/>
              <a:buChar char="●"/>
            </a:pPr>
            <a:r>
              <a:rPr b="1" lang="en-CA" sz="1600"/>
              <a:t>Views Created</a:t>
            </a:r>
            <a:r>
              <a:rPr lang="en-CA" sz="1600"/>
              <a:t>:</a:t>
            </a:r>
            <a:endParaRPr sz="1600"/>
          </a:p>
          <a:p>
            <a:pPr indent="-311150" lvl="1" marL="742950" rtl="0" algn="l">
              <a:lnSpc>
                <a:spcPct val="115000"/>
              </a:lnSpc>
              <a:spcBef>
                <a:spcPts val="1300"/>
              </a:spcBef>
              <a:spcAft>
                <a:spcPts val="0"/>
              </a:spcAft>
              <a:buClr>
                <a:schemeClr val="dk1"/>
              </a:buClr>
              <a:buSzPts val="1400"/>
              <a:buChar char="○"/>
            </a:pPr>
            <a:r>
              <a:rPr lang="en-CA" sz="1600"/>
              <a:t>orders_view, products_view, order_products_prior_view, etc.</a:t>
            </a:r>
            <a:endParaRPr sz="1600"/>
          </a:p>
          <a:p>
            <a:pPr indent="-311150" lvl="1" marL="742950" rtl="0" algn="l">
              <a:lnSpc>
                <a:spcPct val="115000"/>
              </a:lnSpc>
              <a:spcBef>
                <a:spcPts val="1300"/>
              </a:spcBef>
              <a:spcAft>
                <a:spcPts val="0"/>
              </a:spcAft>
              <a:buClr>
                <a:schemeClr val="dk1"/>
              </a:buClr>
              <a:buSzPts val="1400"/>
              <a:buChar char="○"/>
            </a:pPr>
            <a:r>
              <a:rPr lang="en-CA" sz="1600"/>
              <a:t>Analytical views: top_reordered_products, orders_by_dayofweek, etc.</a:t>
            </a:r>
            <a:endParaRPr sz="1600"/>
          </a:p>
          <a:p>
            <a:pPr indent="0" lvl="0" marL="0" rtl="0" algn="l">
              <a:lnSpc>
                <a:spcPct val="90000"/>
              </a:lnSpc>
              <a:spcBef>
                <a:spcPts val="1800"/>
              </a:spcBef>
              <a:spcAft>
                <a:spcPts val="0"/>
              </a:spcAft>
              <a:buClr>
                <a:schemeClr val="dk1"/>
              </a:buClr>
              <a:buSzPts val="2800"/>
              <a:buNone/>
            </a:pPr>
            <a:r>
              <a:t/>
            </a:r>
            <a:endParaRPr sz="3200"/>
          </a:p>
        </p:txBody>
      </p:sp>
      <p:pic>
        <p:nvPicPr>
          <p:cNvPr id="170" name="Google Shape;170;p21"/>
          <p:cNvPicPr preferRelativeResize="0"/>
          <p:nvPr/>
        </p:nvPicPr>
        <p:blipFill>
          <a:blip r:embed="rId4">
            <a:alphaModFix/>
          </a:blip>
          <a:stretch>
            <a:fillRect/>
          </a:stretch>
        </p:blipFill>
        <p:spPr>
          <a:xfrm>
            <a:off x="4767000" y="1843100"/>
            <a:ext cx="3597649" cy="1783625"/>
          </a:xfrm>
          <a:prstGeom prst="rect">
            <a:avLst/>
          </a:prstGeom>
          <a:noFill/>
          <a:ln>
            <a:noFill/>
          </a:ln>
        </p:spPr>
      </p:pic>
      <p:pic>
        <p:nvPicPr>
          <p:cNvPr id="171" name="Google Shape;171;p21"/>
          <p:cNvPicPr preferRelativeResize="0"/>
          <p:nvPr/>
        </p:nvPicPr>
        <p:blipFill>
          <a:blip r:embed="rId5">
            <a:alphaModFix/>
          </a:blip>
          <a:stretch>
            <a:fillRect/>
          </a:stretch>
        </p:blipFill>
        <p:spPr>
          <a:xfrm>
            <a:off x="8611575" y="1843100"/>
            <a:ext cx="3070974" cy="1783625"/>
          </a:xfrm>
          <a:prstGeom prst="rect">
            <a:avLst/>
          </a:prstGeom>
          <a:noFill/>
          <a:ln>
            <a:noFill/>
          </a:ln>
        </p:spPr>
      </p:pic>
      <p:pic>
        <p:nvPicPr>
          <p:cNvPr id="172" name="Google Shape;172;p21"/>
          <p:cNvPicPr preferRelativeResize="0"/>
          <p:nvPr/>
        </p:nvPicPr>
        <p:blipFill>
          <a:blip r:embed="rId6">
            <a:alphaModFix/>
          </a:blip>
          <a:stretch>
            <a:fillRect/>
          </a:stretch>
        </p:blipFill>
        <p:spPr>
          <a:xfrm>
            <a:off x="8258863" y="3887150"/>
            <a:ext cx="3776400" cy="2397699"/>
          </a:xfrm>
          <a:prstGeom prst="rect">
            <a:avLst/>
          </a:prstGeom>
          <a:noFill/>
          <a:ln>
            <a:noFill/>
          </a:ln>
        </p:spPr>
      </p:pic>
      <p:pic>
        <p:nvPicPr>
          <p:cNvPr id="173" name="Google Shape;173;p21"/>
          <p:cNvPicPr preferRelativeResize="0"/>
          <p:nvPr/>
        </p:nvPicPr>
        <p:blipFill>
          <a:blip r:embed="rId7">
            <a:alphaModFix/>
          </a:blip>
          <a:stretch>
            <a:fillRect/>
          </a:stretch>
        </p:blipFill>
        <p:spPr>
          <a:xfrm>
            <a:off x="4767000" y="4028000"/>
            <a:ext cx="3339475" cy="2148825"/>
          </a:xfrm>
          <a:prstGeom prst="rect">
            <a:avLst/>
          </a:prstGeom>
          <a:noFill/>
          <a:ln>
            <a:noFill/>
          </a:ln>
        </p:spPr>
      </p:pic>
      <p:sp>
        <p:nvSpPr>
          <p:cNvPr id="174" name="Google Shape;174;p2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22"/>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180" name="Google Shape;180;p22"/>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81" name="Google Shape;181;p22"/>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Visualization- Power BI</a:t>
            </a:r>
            <a:endParaRPr b="1"/>
          </a:p>
        </p:txBody>
      </p:sp>
      <p:sp>
        <p:nvSpPr>
          <p:cNvPr id="182" name="Google Shape;182;p22"/>
          <p:cNvSpPr txBox="1"/>
          <p:nvPr>
            <p:ph idx="4294967295" type="body"/>
          </p:nvPr>
        </p:nvSpPr>
        <p:spPr>
          <a:xfrm>
            <a:off x="838200" y="1485000"/>
            <a:ext cx="6721800" cy="5035500"/>
          </a:xfrm>
          <a:prstGeom prst="rect">
            <a:avLst/>
          </a:prstGeom>
          <a:noFill/>
          <a:ln>
            <a:noFill/>
          </a:ln>
        </p:spPr>
        <p:txBody>
          <a:bodyPr anchorCtr="0" anchor="t" bIns="45700" lIns="91425" spcFirstLastPara="1" rIns="91425" wrap="square" tIns="45700">
            <a:noAutofit/>
          </a:bodyPr>
          <a:lstStyle/>
          <a:p>
            <a:pPr indent="-381000" lvl="0" marL="342900" rtl="0" algn="l">
              <a:lnSpc>
                <a:spcPct val="115000"/>
              </a:lnSpc>
              <a:spcBef>
                <a:spcPts val="0"/>
              </a:spcBef>
              <a:spcAft>
                <a:spcPts val="0"/>
              </a:spcAft>
              <a:buClr>
                <a:schemeClr val="dk1"/>
              </a:buClr>
              <a:buSzPts val="1600"/>
              <a:buFont typeface="Noto Sans Symbols"/>
              <a:buChar char="●"/>
            </a:pPr>
            <a:r>
              <a:rPr b="1" lang="en-CA" sz="1600"/>
              <a:t>Connection</a:t>
            </a:r>
            <a:r>
              <a:rPr lang="en-CA" sz="1600"/>
              <a:t>: Connected to Synapse via Serverless SQL endpoint</a:t>
            </a:r>
            <a:endParaRPr sz="1600"/>
          </a:p>
          <a:p>
            <a:pPr indent="-393700" lvl="0" marL="342900" rtl="0" algn="l">
              <a:lnSpc>
                <a:spcPct val="115000"/>
              </a:lnSpc>
              <a:spcBef>
                <a:spcPts val="0"/>
              </a:spcBef>
              <a:spcAft>
                <a:spcPts val="0"/>
              </a:spcAft>
              <a:buSzPts val="1800"/>
              <a:buChar char="●"/>
            </a:pPr>
            <a:r>
              <a:rPr lang="en-CA" sz="1600"/>
              <a:t>Built dynamic visuals with slicers for day, department, user, and product</a:t>
            </a:r>
            <a:endParaRPr sz="1600"/>
          </a:p>
          <a:p>
            <a:pPr indent="-381000" lvl="0" marL="342900" rtl="0" algn="l">
              <a:lnSpc>
                <a:spcPct val="115000"/>
              </a:lnSpc>
              <a:spcBef>
                <a:spcPts val="1800"/>
              </a:spcBef>
              <a:spcAft>
                <a:spcPts val="0"/>
              </a:spcAft>
              <a:buClr>
                <a:schemeClr val="dk1"/>
              </a:buClr>
              <a:buSzPts val="1600"/>
              <a:buFont typeface="Noto Sans Symbols"/>
              <a:buChar char="●"/>
            </a:pPr>
            <a:r>
              <a:rPr b="1" lang="en-CA" sz="1600"/>
              <a:t>Key </a:t>
            </a:r>
            <a:r>
              <a:rPr b="1" lang="en-CA" sz="1600"/>
              <a:t>Visuals Built</a:t>
            </a:r>
            <a:r>
              <a:rPr lang="en-CA" sz="1600"/>
              <a:t>:</a:t>
            </a:r>
            <a:endParaRPr sz="1600"/>
          </a:p>
          <a:p>
            <a:pPr indent="-311150" lvl="1" marL="742950" rtl="0" algn="l">
              <a:lnSpc>
                <a:spcPct val="115000"/>
              </a:lnSpc>
              <a:spcBef>
                <a:spcPts val="1300"/>
              </a:spcBef>
              <a:spcAft>
                <a:spcPts val="0"/>
              </a:spcAft>
              <a:buClr>
                <a:schemeClr val="dk1"/>
              </a:buClr>
              <a:buSzPts val="1400"/>
              <a:buChar char="○"/>
            </a:pPr>
            <a:r>
              <a:rPr lang="en-CA" sz="1600"/>
              <a:t>Orders by Hour of Day – identifies shopping peak hours</a:t>
            </a:r>
            <a:endParaRPr sz="1600"/>
          </a:p>
          <a:p>
            <a:pPr indent="-311150" lvl="1" marL="742950" rtl="0" algn="l">
              <a:lnSpc>
                <a:spcPct val="115000"/>
              </a:lnSpc>
              <a:spcBef>
                <a:spcPts val="1300"/>
              </a:spcBef>
              <a:spcAft>
                <a:spcPts val="0"/>
              </a:spcAft>
              <a:buClr>
                <a:schemeClr val="dk1"/>
              </a:buClr>
              <a:buSzPts val="1400"/>
              <a:buChar char="○"/>
            </a:pPr>
            <a:r>
              <a:rPr lang="en-CA" sz="1600"/>
              <a:t>Top Departments by Day – tracks weekly performance patterns</a:t>
            </a:r>
            <a:endParaRPr sz="1600"/>
          </a:p>
          <a:p>
            <a:pPr indent="-311150" lvl="1" marL="742950" rtl="0" algn="l">
              <a:lnSpc>
                <a:spcPct val="115000"/>
              </a:lnSpc>
              <a:spcBef>
                <a:spcPts val="1300"/>
              </a:spcBef>
              <a:spcAft>
                <a:spcPts val="0"/>
              </a:spcAft>
              <a:buClr>
                <a:schemeClr val="dk1"/>
              </a:buClr>
              <a:buSzPts val="1400"/>
              <a:buChar char="○"/>
            </a:pPr>
            <a:r>
              <a:rPr lang="en-CA" sz="1600"/>
              <a:t>Reorder Rate – shows customer loyalty trends, etc</a:t>
            </a:r>
            <a:endParaRPr sz="1600"/>
          </a:p>
          <a:p>
            <a:pPr indent="-381000" lvl="0" marL="342900" rtl="0" algn="l">
              <a:lnSpc>
                <a:spcPct val="115000"/>
              </a:lnSpc>
              <a:spcBef>
                <a:spcPts val="1800"/>
              </a:spcBef>
              <a:spcAft>
                <a:spcPts val="0"/>
              </a:spcAft>
              <a:buClr>
                <a:schemeClr val="dk1"/>
              </a:buClr>
              <a:buSzPts val="1600"/>
              <a:buFont typeface="Noto Sans Symbols"/>
              <a:buChar char="●"/>
            </a:pPr>
            <a:r>
              <a:rPr lang="en-CA" sz="1600"/>
              <a:t>Used DAX to calculate Total Orders, Reorder Rate, and Avg Days Between Orders</a:t>
            </a:r>
            <a:endParaRPr sz="1600"/>
          </a:p>
          <a:p>
            <a:pPr indent="-381000" lvl="0" marL="342900" rtl="0" algn="l">
              <a:lnSpc>
                <a:spcPct val="115000"/>
              </a:lnSpc>
              <a:spcBef>
                <a:spcPts val="1800"/>
              </a:spcBef>
              <a:spcAft>
                <a:spcPts val="0"/>
              </a:spcAft>
              <a:buClr>
                <a:schemeClr val="dk1"/>
              </a:buClr>
              <a:buSzPts val="1600"/>
              <a:buFont typeface="Noto Sans Symbols"/>
              <a:buChar char="●"/>
            </a:pPr>
            <a:r>
              <a:rPr b="1" lang="en-CA" sz="1600"/>
              <a:t>Sharing</a:t>
            </a:r>
            <a:r>
              <a:rPr lang="en-CA" sz="1600"/>
              <a:t>:</a:t>
            </a:r>
            <a:endParaRPr sz="1600"/>
          </a:p>
          <a:p>
            <a:pPr indent="-311150" lvl="1" marL="742950" rtl="0" algn="l">
              <a:lnSpc>
                <a:spcPct val="115000"/>
              </a:lnSpc>
              <a:spcBef>
                <a:spcPts val="1300"/>
              </a:spcBef>
              <a:spcAft>
                <a:spcPts val="0"/>
              </a:spcAft>
              <a:buClr>
                <a:schemeClr val="dk1"/>
              </a:buClr>
              <a:buSzPts val="1400"/>
              <a:buChar char="○"/>
            </a:pPr>
            <a:r>
              <a:rPr lang="en-CA" sz="1600"/>
              <a:t>Published to Power BI Workspace</a:t>
            </a:r>
            <a:endParaRPr sz="1600"/>
          </a:p>
          <a:p>
            <a:pPr indent="0" lvl="0" marL="0" rtl="0" algn="l">
              <a:lnSpc>
                <a:spcPct val="90000"/>
              </a:lnSpc>
              <a:spcBef>
                <a:spcPts val="1800"/>
              </a:spcBef>
              <a:spcAft>
                <a:spcPts val="0"/>
              </a:spcAft>
              <a:buClr>
                <a:schemeClr val="dk1"/>
              </a:buClr>
              <a:buSzPts val="2800"/>
              <a:buNone/>
            </a:pPr>
            <a:r>
              <a:t/>
            </a:r>
            <a:endParaRPr sz="3200"/>
          </a:p>
        </p:txBody>
      </p:sp>
      <p:sp>
        <p:nvSpPr>
          <p:cNvPr id="183" name="Google Shape;183;p2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pic>
        <p:nvPicPr>
          <p:cNvPr id="184" name="Google Shape;184;p22"/>
          <p:cNvPicPr preferRelativeResize="0"/>
          <p:nvPr/>
        </p:nvPicPr>
        <p:blipFill>
          <a:blip r:embed="rId4">
            <a:alphaModFix/>
          </a:blip>
          <a:stretch>
            <a:fillRect/>
          </a:stretch>
        </p:blipFill>
        <p:spPr>
          <a:xfrm>
            <a:off x="7377850" y="876125"/>
            <a:ext cx="3047501" cy="2137725"/>
          </a:xfrm>
          <a:prstGeom prst="rect">
            <a:avLst/>
          </a:prstGeom>
          <a:noFill/>
          <a:ln>
            <a:noFill/>
          </a:ln>
        </p:spPr>
      </p:pic>
      <p:pic>
        <p:nvPicPr>
          <p:cNvPr id="185" name="Google Shape;185;p22"/>
          <p:cNvPicPr preferRelativeResize="0"/>
          <p:nvPr/>
        </p:nvPicPr>
        <p:blipFill>
          <a:blip r:embed="rId5">
            <a:alphaModFix/>
          </a:blip>
          <a:stretch>
            <a:fillRect/>
          </a:stretch>
        </p:blipFill>
        <p:spPr>
          <a:xfrm>
            <a:off x="8547700" y="2581850"/>
            <a:ext cx="3326802" cy="2063575"/>
          </a:xfrm>
          <a:prstGeom prst="rect">
            <a:avLst/>
          </a:prstGeom>
          <a:solidFill>
            <a:srgbClr val="FFFFFF">
              <a:alpha val="87970"/>
            </a:srgbClr>
          </a:solidFill>
          <a:ln cap="flat" cmpd="sng" w="9525">
            <a:solidFill>
              <a:srgbClr val="FFF2CC"/>
            </a:solidFill>
            <a:prstDash val="solid"/>
            <a:round/>
            <a:headEnd len="sm" w="sm" type="none"/>
            <a:tailEnd len="sm" w="sm" type="none"/>
          </a:ln>
        </p:spPr>
      </p:pic>
      <p:pic>
        <p:nvPicPr>
          <p:cNvPr id="186" name="Google Shape;186;p22"/>
          <p:cNvPicPr preferRelativeResize="0"/>
          <p:nvPr/>
        </p:nvPicPr>
        <p:blipFill>
          <a:blip r:embed="rId6">
            <a:alphaModFix/>
          </a:blip>
          <a:stretch>
            <a:fillRect/>
          </a:stretch>
        </p:blipFill>
        <p:spPr>
          <a:xfrm>
            <a:off x="7306913" y="4326625"/>
            <a:ext cx="3649577" cy="2137726"/>
          </a:xfrm>
          <a:prstGeom prst="rect">
            <a:avLst/>
          </a:prstGeom>
          <a:solidFill>
            <a:srgbClr val="FFFFFF">
              <a:alpha val="87970"/>
            </a:srgbClr>
          </a:solidFill>
          <a:ln cap="flat" cmpd="sng" w="9525">
            <a:solidFill>
              <a:srgbClr val="FFF2CC"/>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23"/>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192" name="Google Shape;192;p23"/>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93" name="Google Shape;193;p23"/>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Learnings &amp; Challenges</a:t>
            </a:r>
            <a:endParaRPr b="1"/>
          </a:p>
        </p:txBody>
      </p:sp>
      <p:sp>
        <p:nvSpPr>
          <p:cNvPr id="194" name="Google Shape;194;p23"/>
          <p:cNvSpPr txBox="1"/>
          <p:nvPr>
            <p:ph idx="4294967295" type="body"/>
          </p:nvPr>
        </p:nvSpPr>
        <p:spPr>
          <a:xfrm>
            <a:off x="838200" y="1825625"/>
            <a:ext cx="52368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b="1" lang="en-CA" sz="2448"/>
              <a:t>⚠️ Challenges</a:t>
            </a:r>
            <a:endParaRPr b="1" sz="2448"/>
          </a:p>
          <a:p>
            <a:pPr indent="-381000" lvl="0" marL="342900" rtl="0" algn="l">
              <a:lnSpc>
                <a:spcPct val="150000"/>
              </a:lnSpc>
              <a:spcBef>
                <a:spcPts val="1000"/>
              </a:spcBef>
              <a:spcAft>
                <a:spcPts val="0"/>
              </a:spcAft>
              <a:buClr>
                <a:schemeClr val="dk1"/>
              </a:buClr>
              <a:buSzPts val="1600"/>
              <a:buChar char="●"/>
            </a:pPr>
            <a:r>
              <a:rPr lang="en-CA" sz="1800"/>
              <a:t>Parquet data type mismatches</a:t>
            </a:r>
            <a:endParaRPr sz="1800"/>
          </a:p>
          <a:p>
            <a:pPr indent="-381000" lvl="0" marL="342900" rtl="0" algn="l">
              <a:lnSpc>
                <a:spcPct val="150000"/>
              </a:lnSpc>
              <a:spcBef>
                <a:spcPts val="1000"/>
              </a:spcBef>
              <a:spcAft>
                <a:spcPts val="0"/>
              </a:spcAft>
              <a:buClr>
                <a:schemeClr val="dk1"/>
              </a:buClr>
              <a:buSzPts val="1600"/>
              <a:buChar char="●"/>
            </a:pPr>
            <a:r>
              <a:rPr lang="en-CA" sz="1800"/>
              <a:t>SAS token + mounting issues</a:t>
            </a:r>
            <a:endParaRPr sz="1800"/>
          </a:p>
          <a:p>
            <a:pPr indent="-381000" lvl="0" marL="342900" rtl="0" algn="l">
              <a:lnSpc>
                <a:spcPct val="150000"/>
              </a:lnSpc>
              <a:spcBef>
                <a:spcPts val="1000"/>
              </a:spcBef>
              <a:spcAft>
                <a:spcPts val="0"/>
              </a:spcAft>
              <a:buClr>
                <a:schemeClr val="dk1"/>
              </a:buClr>
              <a:buSzPts val="1600"/>
              <a:buChar char="●"/>
            </a:pPr>
            <a:r>
              <a:rPr lang="en-CA" sz="1800"/>
              <a:t>No ORDER BY in Synapse views</a:t>
            </a:r>
            <a:endParaRPr sz="1800"/>
          </a:p>
          <a:p>
            <a:pPr indent="-381000" lvl="0" marL="342900" rtl="0" algn="l">
              <a:lnSpc>
                <a:spcPct val="150000"/>
              </a:lnSpc>
              <a:spcBef>
                <a:spcPts val="1000"/>
              </a:spcBef>
              <a:spcAft>
                <a:spcPts val="0"/>
              </a:spcAft>
              <a:buClr>
                <a:schemeClr val="dk1"/>
              </a:buClr>
              <a:buSzPts val="1600"/>
              <a:buChar char="●"/>
            </a:pPr>
            <a:r>
              <a:rPr lang="en-CA" sz="1800"/>
              <a:t>Power BI Service limitations</a:t>
            </a:r>
            <a:endParaRPr sz="1800"/>
          </a:p>
          <a:p>
            <a:pPr indent="-381000" lvl="0" marL="342900" rtl="0" algn="l">
              <a:lnSpc>
                <a:spcPct val="150000"/>
              </a:lnSpc>
              <a:spcBef>
                <a:spcPts val="1000"/>
              </a:spcBef>
              <a:spcAft>
                <a:spcPts val="0"/>
              </a:spcAft>
              <a:buClr>
                <a:schemeClr val="dk1"/>
              </a:buClr>
              <a:buSzPts val="1600"/>
              <a:buChar char="●"/>
            </a:pPr>
            <a:r>
              <a:rPr lang="en-CA" sz="1800"/>
              <a:t>Unresponsive slicers initially</a:t>
            </a:r>
            <a:endParaRPr sz="1800"/>
          </a:p>
        </p:txBody>
      </p:sp>
      <p:sp>
        <p:nvSpPr>
          <p:cNvPr id="195" name="Google Shape;195;p2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
        <p:nvSpPr>
          <p:cNvPr id="196" name="Google Shape;196;p23"/>
          <p:cNvSpPr txBox="1"/>
          <p:nvPr>
            <p:ph idx="4294967295" type="body"/>
          </p:nvPr>
        </p:nvSpPr>
        <p:spPr>
          <a:xfrm>
            <a:off x="6323100" y="1825625"/>
            <a:ext cx="52368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b="1" lang="en-CA" sz="2448"/>
              <a:t> 💡 Learnings</a:t>
            </a:r>
            <a:endParaRPr b="1" sz="2448"/>
          </a:p>
          <a:p>
            <a:pPr indent="-381000" lvl="0" marL="342900" rtl="0" algn="l">
              <a:lnSpc>
                <a:spcPct val="150000"/>
              </a:lnSpc>
              <a:spcBef>
                <a:spcPts val="1000"/>
              </a:spcBef>
              <a:spcAft>
                <a:spcPts val="0"/>
              </a:spcAft>
              <a:buClr>
                <a:schemeClr val="dk1"/>
              </a:buClr>
              <a:buSzPts val="1600"/>
              <a:buChar char="●"/>
            </a:pPr>
            <a:r>
              <a:rPr lang="en-CA" sz="1800"/>
              <a:t>Layered architecture = scalable + modular</a:t>
            </a:r>
            <a:endParaRPr sz="1800"/>
          </a:p>
          <a:p>
            <a:pPr indent="-381000" lvl="0" marL="342900" rtl="0" algn="l">
              <a:lnSpc>
                <a:spcPct val="150000"/>
              </a:lnSpc>
              <a:spcBef>
                <a:spcPts val="1000"/>
              </a:spcBef>
              <a:spcAft>
                <a:spcPts val="0"/>
              </a:spcAft>
              <a:buClr>
                <a:schemeClr val="dk1"/>
              </a:buClr>
              <a:buSzPts val="1600"/>
              <a:buChar char="●"/>
            </a:pPr>
            <a:r>
              <a:rPr lang="en-CA" sz="1800"/>
              <a:t>Synapse views simplified Power BI consumption</a:t>
            </a:r>
            <a:endParaRPr sz="1800"/>
          </a:p>
          <a:p>
            <a:pPr indent="-381000" lvl="0" marL="342900" rtl="0" algn="l">
              <a:lnSpc>
                <a:spcPct val="150000"/>
              </a:lnSpc>
              <a:spcBef>
                <a:spcPts val="1000"/>
              </a:spcBef>
              <a:spcAft>
                <a:spcPts val="0"/>
              </a:spcAft>
              <a:buClr>
                <a:schemeClr val="dk1"/>
              </a:buClr>
              <a:buSzPts val="1600"/>
              <a:buChar char="●"/>
            </a:pPr>
            <a:r>
              <a:rPr lang="en-CA" sz="1800"/>
              <a:t>Relationships drive interactivity</a:t>
            </a:r>
            <a:endParaRPr sz="1800"/>
          </a:p>
          <a:p>
            <a:pPr indent="-381000" lvl="0" marL="342900" rtl="0" algn="l">
              <a:lnSpc>
                <a:spcPct val="150000"/>
              </a:lnSpc>
              <a:spcBef>
                <a:spcPts val="1000"/>
              </a:spcBef>
              <a:spcAft>
                <a:spcPts val="0"/>
              </a:spcAft>
              <a:buClr>
                <a:schemeClr val="dk1"/>
              </a:buClr>
              <a:buSzPts val="1600"/>
              <a:buChar char="●"/>
            </a:pPr>
            <a:r>
              <a:rPr lang="en-CA" sz="1800"/>
              <a:t>DAX &gt; for custom, dynamic metrics</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24"/>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202" name="Google Shape;202;p24"/>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03" name="Google Shape;203;p24"/>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CA"/>
              <a:t>Conclusion</a:t>
            </a:r>
            <a:endParaRPr b="1"/>
          </a:p>
        </p:txBody>
      </p:sp>
      <p:sp>
        <p:nvSpPr>
          <p:cNvPr id="204" name="Google Shape;204;p24"/>
          <p:cNvSpPr txBox="1"/>
          <p:nvPr>
            <p:ph idx="4294967295" type="body"/>
          </p:nvPr>
        </p:nvSpPr>
        <p:spPr>
          <a:xfrm>
            <a:off x="838200" y="1690825"/>
            <a:ext cx="10515600" cy="4665600"/>
          </a:xfrm>
          <a:prstGeom prst="rect">
            <a:avLst/>
          </a:prstGeom>
          <a:noFill/>
          <a:ln>
            <a:noFill/>
          </a:ln>
        </p:spPr>
        <p:txBody>
          <a:bodyPr anchorCtr="0" anchor="t" bIns="45700" lIns="91425" spcFirstLastPara="1" rIns="91425" wrap="square" tIns="45700">
            <a:normAutofit fontScale="85000"/>
          </a:bodyPr>
          <a:lstStyle/>
          <a:p>
            <a:pPr indent="0" lvl="0" marL="0" rtl="0" algn="l">
              <a:lnSpc>
                <a:spcPct val="115000"/>
              </a:lnSpc>
              <a:spcBef>
                <a:spcPts val="0"/>
              </a:spcBef>
              <a:spcAft>
                <a:spcPts val="0"/>
              </a:spcAft>
              <a:buNone/>
            </a:pPr>
            <a:r>
              <a:rPr b="1" lang="en-CA" sz="2435"/>
              <a:t>Architecture Summary</a:t>
            </a:r>
            <a:endParaRPr b="1" sz="2435"/>
          </a:p>
          <a:p>
            <a:pPr indent="-354965" lvl="0" marL="800100" rtl="0" algn="l">
              <a:lnSpc>
                <a:spcPct val="150000"/>
              </a:lnSpc>
              <a:spcBef>
                <a:spcPts val="0"/>
              </a:spcBef>
              <a:spcAft>
                <a:spcPts val="0"/>
              </a:spcAft>
              <a:buClr>
                <a:schemeClr val="dk1"/>
              </a:buClr>
              <a:buSzPct val="63636"/>
              <a:buFont typeface="Noto Sans Symbols"/>
              <a:buChar char="●"/>
            </a:pPr>
            <a:r>
              <a:rPr lang="en-CA" sz="2200"/>
              <a:t>Bronze: Ingested raw data to Data Lake and used Data Factory to manage pipeline steps</a:t>
            </a:r>
            <a:endParaRPr sz="2200"/>
          </a:p>
          <a:p>
            <a:pPr indent="-354965" lvl="0" marL="800100" rtl="0" algn="l">
              <a:lnSpc>
                <a:spcPct val="150000"/>
              </a:lnSpc>
              <a:spcBef>
                <a:spcPts val="0"/>
              </a:spcBef>
              <a:spcAft>
                <a:spcPts val="0"/>
              </a:spcAft>
              <a:buClr>
                <a:schemeClr val="dk1"/>
              </a:buClr>
              <a:buSzPct val="63636"/>
              <a:buFont typeface="Noto Sans Symbols"/>
              <a:buChar char="●"/>
            </a:pPr>
            <a:r>
              <a:rPr lang="en-CA" sz="2200"/>
              <a:t>Silver: Cleaned &amp; transformed in Databricks (notebooks)</a:t>
            </a:r>
            <a:endParaRPr sz="2200"/>
          </a:p>
          <a:p>
            <a:pPr indent="-354965" lvl="0" marL="800100" rtl="0" algn="l">
              <a:lnSpc>
                <a:spcPct val="150000"/>
              </a:lnSpc>
              <a:spcBef>
                <a:spcPts val="0"/>
              </a:spcBef>
              <a:spcAft>
                <a:spcPts val="0"/>
              </a:spcAft>
              <a:buClr>
                <a:schemeClr val="dk1"/>
              </a:buClr>
              <a:buSzPct val="63636"/>
              <a:buFont typeface="Noto Sans Symbols"/>
              <a:buChar char="●"/>
            </a:pPr>
            <a:r>
              <a:rPr lang="en-CA" sz="2200"/>
              <a:t>Gold: Created views + external tables in Synapse for reporting</a:t>
            </a:r>
            <a:endParaRPr sz="2200"/>
          </a:p>
          <a:p>
            <a:pPr indent="-354965" lvl="0" marL="800100" rtl="0" algn="l">
              <a:lnSpc>
                <a:spcPct val="150000"/>
              </a:lnSpc>
              <a:spcBef>
                <a:spcPts val="0"/>
              </a:spcBef>
              <a:spcAft>
                <a:spcPts val="0"/>
              </a:spcAft>
              <a:buClr>
                <a:schemeClr val="dk1"/>
              </a:buClr>
              <a:buSzPct val="63636"/>
              <a:buFont typeface="Noto Sans Symbols"/>
              <a:buChar char="●"/>
            </a:pPr>
            <a:r>
              <a:rPr lang="en-CA" sz="2200"/>
              <a:t>Connected to Power BI via serverless SQL endpoint</a:t>
            </a:r>
            <a:endParaRPr sz="2200"/>
          </a:p>
          <a:p>
            <a:pPr indent="0" lvl="0" marL="0" rtl="0" algn="l">
              <a:lnSpc>
                <a:spcPct val="115000"/>
              </a:lnSpc>
              <a:spcBef>
                <a:spcPts val="0"/>
              </a:spcBef>
              <a:spcAft>
                <a:spcPts val="0"/>
              </a:spcAft>
              <a:buNone/>
            </a:pPr>
            <a:r>
              <a:t/>
            </a:r>
            <a:endParaRPr sz="2200"/>
          </a:p>
          <a:p>
            <a:pPr indent="0" lvl="0" marL="0" rtl="0" algn="l">
              <a:lnSpc>
                <a:spcPct val="115000"/>
              </a:lnSpc>
              <a:spcBef>
                <a:spcPts val="0"/>
              </a:spcBef>
              <a:spcAft>
                <a:spcPts val="0"/>
              </a:spcAft>
              <a:buNone/>
            </a:pPr>
            <a:r>
              <a:rPr b="1" lang="en-CA" sz="2435"/>
              <a:t>Key Highlights: </a:t>
            </a:r>
            <a:endParaRPr b="1" sz="2435"/>
          </a:p>
          <a:p>
            <a:pPr indent="-354965" lvl="0" marL="800100" rtl="0" algn="l">
              <a:lnSpc>
                <a:spcPct val="150000"/>
              </a:lnSpc>
              <a:spcBef>
                <a:spcPts val="0"/>
              </a:spcBef>
              <a:spcAft>
                <a:spcPts val="0"/>
              </a:spcAft>
              <a:buClr>
                <a:schemeClr val="dk1"/>
              </a:buClr>
              <a:buSzPct val="63636"/>
              <a:buFont typeface="Noto Sans Symbols"/>
              <a:buChar char="●"/>
            </a:pPr>
            <a:r>
              <a:rPr lang="en-CA" sz="2200"/>
              <a:t>Successfully Designed and Implemented a full data pipeline and Reporting Dashboard using Azure ecosystem</a:t>
            </a:r>
            <a:endParaRPr sz="2200"/>
          </a:p>
          <a:p>
            <a:pPr indent="-354965" lvl="0" marL="800100" rtl="0" algn="l">
              <a:lnSpc>
                <a:spcPct val="115000"/>
              </a:lnSpc>
              <a:spcBef>
                <a:spcPts val="0"/>
              </a:spcBef>
              <a:spcAft>
                <a:spcPts val="0"/>
              </a:spcAft>
              <a:buClr>
                <a:schemeClr val="dk1"/>
              </a:buClr>
              <a:buSzPct val="63636"/>
              <a:buFont typeface="Noto Sans Symbols"/>
              <a:buChar char="●"/>
            </a:pPr>
            <a:r>
              <a:rPr lang="en-CA" sz="2200"/>
              <a:t>Delivered an Interactive Power BI dashboard that offers actionable business insights</a:t>
            </a:r>
            <a:endParaRPr sz="2200"/>
          </a:p>
          <a:p>
            <a:pPr indent="-354965" lvl="0" marL="800100" rtl="0" algn="l">
              <a:lnSpc>
                <a:spcPct val="115000"/>
              </a:lnSpc>
              <a:spcBef>
                <a:spcPts val="1800"/>
              </a:spcBef>
              <a:spcAft>
                <a:spcPts val="0"/>
              </a:spcAft>
              <a:buClr>
                <a:schemeClr val="dk1"/>
              </a:buClr>
              <a:buSzPct val="63636"/>
              <a:buFont typeface="Noto Sans Symbols"/>
              <a:buChar char="●"/>
            </a:pPr>
            <a:r>
              <a:rPr lang="en-CA" sz="2200"/>
              <a:t>Architecture is cloud-native, modular, and built for scalability</a:t>
            </a:r>
            <a:endParaRPr sz="3200"/>
          </a:p>
        </p:txBody>
      </p:sp>
      <p:sp>
        <p:nvSpPr>
          <p:cNvPr id="205" name="Google Shape;205;p2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25"/>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211" name="Google Shape;211;p25"/>
          <p:cNvSpPr/>
          <p:nvPr/>
        </p:nvSpPr>
        <p:spPr>
          <a:xfrm>
            <a:off x="203250" y="222750"/>
            <a:ext cx="11785500" cy="6412500"/>
          </a:xfrm>
          <a:prstGeom prst="rect">
            <a:avLst/>
          </a:prstGeom>
          <a:solidFill>
            <a:srgbClr val="FFFFFF">
              <a:alpha val="93040"/>
            </a:srgbClr>
          </a:solidFill>
          <a:ln cap="flat" cmpd="sng" w="9525">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12" name="Google Shape;212;p25"/>
          <p:cNvSpPr txBox="1"/>
          <p:nvPr>
            <p:ph idx="4294967295"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CA"/>
              <a:t>Artifacts</a:t>
            </a:r>
            <a:endParaRPr b="1"/>
          </a:p>
        </p:txBody>
      </p:sp>
      <p:sp>
        <p:nvSpPr>
          <p:cNvPr id="213" name="Google Shape;213;p25"/>
          <p:cNvSpPr txBox="1"/>
          <p:nvPr>
            <p:ph idx="4294967295" type="body"/>
          </p:nvPr>
        </p:nvSpPr>
        <p:spPr>
          <a:xfrm>
            <a:off x="838200" y="1825625"/>
            <a:ext cx="5952300" cy="4702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CA" sz="1400"/>
              <a:t>GitHub Repo: </a:t>
            </a:r>
            <a:r>
              <a:rPr lang="en-CA" sz="1400" u="sng">
                <a:solidFill>
                  <a:schemeClr val="hlink"/>
                </a:solidFill>
                <a:hlinkClick r:id="rId4"/>
              </a:rPr>
              <a:t>https://github.com/Sujiitra/InstaCartMSAzureProject</a:t>
            </a:r>
            <a:endParaRPr sz="1400"/>
          </a:p>
          <a:p>
            <a:pPr indent="0" lvl="0" marL="0" rtl="0" algn="l">
              <a:lnSpc>
                <a:spcPct val="115000"/>
              </a:lnSpc>
              <a:spcBef>
                <a:spcPts val="1200"/>
              </a:spcBef>
              <a:spcAft>
                <a:spcPts val="0"/>
              </a:spcAft>
              <a:buClr>
                <a:schemeClr val="dk1"/>
              </a:buClr>
              <a:buSzPts val="1100"/>
              <a:buFont typeface="Arial"/>
              <a:buNone/>
            </a:pPr>
            <a:r>
              <a:rPr b="1" lang="en-CA" sz="1400"/>
              <a:t>Included Artifacts:</a:t>
            </a:r>
            <a:endParaRPr b="1" sz="1400"/>
          </a:p>
          <a:p>
            <a:pPr indent="-317500" lvl="0" marL="457200" rtl="0" algn="l">
              <a:lnSpc>
                <a:spcPct val="115000"/>
              </a:lnSpc>
              <a:spcBef>
                <a:spcPts val="1200"/>
              </a:spcBef>
              <a:spcAft>
                <a:spcPts val="0"/>
              </a:spcAft>
              <a:buSzPts val="1400"/>
              <a:buChar char="●"/>
            </a:pPr>
            <a:r>
              <a:rPr b="1" lang="en-CA" sz="1400"/>
              <a:t>SQL Queries</a:t>
            </a:r>
            <a:r>
              <a:rPr lang="en-CA" sz="1400"/>
              <a:t> – Scripts used in Azure Synapse (staging, transformation, serving)</a:t>
            </a:r>
            <a:br>
              <a:rPr lang="en-CA" sz="1400"/>
            </a:br>
            <a:endParaRPr sz="1400"/>
          </a:p>
          <a:p>
            <a:pPr indent="-317500" lvl="0" marL="457200" rtl="0" algn="l">
              <a:lnSpc>
                <a:spcPct val="115000"/>
              </a:lnSpc>
              <a:spcBef>
                <a:spcPts val="0"/>
              </a:spcBef>
              <a:spcAft>
                <a:spcPts val="0"/>
              </a:spcAft>
              <a:buSzPts val="1400"/>
              <a:buChar char="●"/>
            </a:pPr>
            <a:r>
              <a:rPr b="1" lang="en-CA" sz="1400"/>
              <a:t>Silver Layer Notebook</a:t>
            </a:r>
            <a:r>
              <a:rPr lang="en-CA" sz="1400"/>
              <a:t> – Python notebook using PySpark in Databricks</a:t>
            </a:r>
            <a:br>
              <a:rPr lang="en-CA" sz="1400"/>
            </a:br>
            <a:endParaRPr sz="1400"/>
          </a:p>
          <a:p>
            <a:pPr indent="-317500" lvl="0" marL="457200" rtl="0" algn="l">
              <a:lnSpc>
                <a:spcPct val="115000"/>
              </a:lnSpc>
              <a:spcBef>
                <a:spcPts val="0"/>
              </a:spcBef>
              <a:spcAft>
                <a:spcPts val="0"/>
              </a:spcAft>
              <a:buSzPts val="1400"/>
              <a:buChar char="●"/>
            </a:pPr>
            <a:r>
              <a:rPr b="1" lang="en-CA" sz="1400"/>
              <a:t>Initial EDA &amp; Analysis</a:t>
            </a:r>
            <a:r>
              <a:rPr lang="en-CA" sz="1400"/>
              <a:t> – Jupyter notebook with dataset insights, distributions, and feature engineering steps</a:t>
            </a:r>
            <a:br>
              <a:rPr lang="en-CA" sz="1400"/>
            </a:br>
            <a:endParaRPr sz="1400"/>
          </a:p>
          <a:p>
            <a:pPr indent="-317500" lvl="0" marL="457200" rtl="0" algn="l">
              <a:lnSpc>
                <a:spcPct val="115000"/>
              </a:lnSpc>
              <a:spcBef>
                <a:spcPts val="0"/>
              </a:spcBef>
              <a:spcAft>
                <a:spcPts val="0"/>
              </a:spcAft>
              <a:buSzPts val="1400"/>
              <a:buChar char="●"/>
            </a:pPr>
            <a:r>
              <a:rPr b="1" lang="en-CA" sz="1400"/>
              <a:t>Architecture Diagram</a:t>
            </a:r>
            <a:br>
              <a:rPr lang="en-CA" sz="1400">
                <a:solidFill>
                  <a:srgbClr val="188038"/>
                </a:solidFill>
              </a:rPr>
            </a:br>
            <a:endParaRPr sz="1400">
              <a:solidFill>
                <a:srgbClr val="188038"/>
              </a:solidFill>
            </a:endParaRPr>
          </a:p>
          <a:p>
            <a:pPr indent="-317500" lvl="0" marL="457200" rtl="0" algn="l">
              <a:lnSpc>
                <a:spcPct val="115000"/>
              </a:lnSpc>
              <a:spcBef>
                <a:spcPts val="0"/>
              </a:spcBef>
              <a:spcAft>
                <a:spcPts val="0"/>
              </a:spcAft>
              <a:buSzPts val="1400"/>
              <a:buChar char="●"/>
            </a:pPr>
            <a:r>
              <a:rPr b="1" lang="en-CA" sz="1400"/>
              <a:t>Screenshots Folder</a:t>
            </a:r>
            <a:r>
              <a:rPr lang="en-CA" sz="1400"/>
              <a:t> – Screenshots of key steps: Blob Storage setup, ADF pipeline, Databricks transformations, Power BI dashboard</a:t>
            </a:r>
            <a:br>
              <a:rPr lang="en-CA" sz="1400"/>
            </a:br>
            <a:endParaRPr sz="1400"/>
          </a:p>
          <a:p>
            <a:pPr indent="-317500" lvl="0" marL="457200" rtl="0" algn="l">
              <a:lnSpc>
                <a:spcPct val="115000"/>
              </a:lnSpc>
              <a:spcBef>
                <a:spcPts val="0"/>
              </a:spcBef>
              <a:spcAft>
                <a:spcPts val="0"/>
              </a:spcAft>
              <a:buSzPts val="1400"/>
              <a:buChar char="●"/>
            </a:pPr>
            <a:r>
              <a:rPr b="1" lang="en-CA" sz="1400"/>
              <a:t>Dataset Source</a:t>
            </a:r>
            <a:r>
              <a:rPr lang="en-CA" sz="1400"/>
              <a:t> – Instacart dataset from Kaggle</a:t>
            </a:r>
            <a:endParaRPr sz="1400"/>
          </a:p>
          <a:p>
            <a:pPr indent="0" lvl="0" marL="0" rtl="0" algn="l">
              <a:spcBef>
                <a:spcPts val="1200"/>
              </a:spcBef>
              <a:spcAft>
                <a:spcPts val="0"/>
              </a:spcAft>
              <a:buNone/>
            </a:pPr>
            <a:r>
              <a:t/>
            </a:r>
            <a:endParaRPr sz="1800">
              <a:latin typeface="Times New Roman"/>
              <a:ea typeface="Times New Roman"/>
              <a:cs typeface="Times New Roman"/>
              <a:sym typeface="Times New Roman"/>
            </a:endParaRPr>
          </a:p>
        </p:txBody>
      </p:sp>
      <p:pic>
        <p:nvPicPr>
          <p:cNvPr id="214" name="Google Shape;214;p25"/>
          <p:cNvPicPr preferRelativeResize="0"/>
          <p:nvPr/>
        </p:nvPicPr>
        <p:blipFill>
          <a:blip r:embed="rId5">
            <a:alphaModFix/>
          </a:blip>
          <a:stretch>
            <a:fillRect/>
          </a:stretch>
        </p:blipFill>
        <p:spPr>
          <a:xfrm>
            <a:off x="7037400" y="1843225"/>
            <a:ext cx="5002199" cy="3231176"/>
          </a:xfrm>
          <a:prstGeom prst="rect">
            <a:avLst/>
          </a:prstGeom>
          <a:noFill/>
          <a:ln>
            <a:noFill/>
          </a:ln>
        </p:spPr>
      </p:pic>
      <p:sp>
        <p:nvSpPr>
          <p:cNvPr id="215" name="Google Shape;215;p2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26"/>
          <p:cNvPicPr preferRelativeResize="0"/>
          <p:nvPr/>
        </p:nvPicPr>
        <p:blipFill rotWithShape="1">
          <a:blip r:embed="rId3">
            <a:alphaModFix/>
          </a:blip>
          <a:srcRect b="5004" l="0" r="0" t="4995"/>
          <a:stretch/>
        </p:blipFill>
        <p:spPr>
          <a:xfrm>
            <a:off x="0" y="0"/>
            <a:ext cx="12192000" cy="6858000"/>
          </a:xfrm>
          <a:prstGeom prst="rect">
            <a:avLst/>
          </a:prstGeom>
          <a:noFill/>
          <a:ln>
            <a:noFill/>
          </a:ln>
        </p:spPr>
      </p:pic>
      <p:sp>
        <p:nvSpPr>
          <p:cNvPr id="221" name="Google Shape;221;p26"/>
          <p:cNvSpPr/>
          <p:nvPr/>
        </p:nvSpPr>
        <p:spPr>
          <a:xfrm>
            <a:off x="1207000" y="1771767"/>
            <a:ext cx="9777900" cy="3230100"/>
          </a:xfrm>
          <a:prstGeom prst="rect">
            <a:avLst/>
          </a:prstGeom>
          <a:solidFill>
            <a:srgbClr val="000000">
              <a:alpha val="80380"/>
            </a:srgbClr>
          </a:solidFill>
          <a:ln cap="flat" cmpd="sng" w="114300">
            <a:solidFill>
              <a:srgbClr val="FFF2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22" name="Google Shape;222;p26"/>
          <p:cNvSpPr txBox="1"/>
          <p:nvPr/>
        </p:nvSpPr>
        <p:spPr>
          <a:xfrm>
            <a:off x="1663200" y="2946600"/>
            <a:ext cx="8865600" cy="9648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b="1" lang="en-CA" sz="4100">
                <a:solidFill>
                  <a:schemeClr val="lt1"/>
                </a:solidFill>
                <a:latin typeface="Verdana"/>
                <a:ea typeface="Verdana"/>
                <a:cs typeface="Verdana"/>
                <a:sym typeface="Verdana"/>
              </a:rPr>
              <a:t>Thank You</a:t>
            </a:r>
            <a:endParaRPr b="1" sz="4100">
              <a:solidFill>
                <a:schemeClr val="lt1"/>
              </a:solidFill>
              <a:latin typeface="Verdana"/>
              <a:ea typeface="Verdana"/>
              <a:cs typeface="Verdana"/>
              <a:sym typeface="Verdana"/>
            </a:endParaRPr>
          </a:p>
        </p:txBody>
      </p:sp>
      <p:sp>
        <p:nvSpPr>
          <p:cNvPr id="223" name="Google Shape;223;p2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